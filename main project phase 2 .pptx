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3" r:id="rId27"/>
    <p:sldId id="284" r:id="rId28"/>
    <p:sldId id="285" r:id="rId29"/>
    <p:sldId id="286" r:id="rId30"/>
    <p:sldId id="287" r:id="rId31"/>
    <p:sldId id="288" r:id="rId32"/>
    <p:sldId id="289" r:id="rId33"/>
    <p:sldId id="290" r:id="rId34"/>
  </p:sldIdLst>
  <p:sldSz cx="9144000" cy="5143500" type="screen16x9"/>
  <p:notesSz cx="6858000" cy="9144000"/>
  <p:embeddedFontLst>
    <p:embeddedFont>
      <p:font typeface="Georgia" panose="02040502050405020303" pitchFamily="18" charset="0"/>
      <p:regular r:id="rId36"/>
      <p:bold r:id="rId37"/>
      <p:italic r:id="rId38"/>
      <p:boldItalic r:id="rId39"/>
    </p:embeddedFont>
    <p:embeddedFont>
      <p:font typeface="Impact" panose="020B0806030902050204" pitchFamily="34" charset="0"/>
      <p:regular r:id="rId40"/>
    </p:embeddedFont>
    <p:embeddedFont>
      <p:font typeface="Merriweather" panose="020F0502020204030204"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jyh3xYIuqBDXcpA9cG1rswsy0/u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467FC6-CA59-4B7A-9D0F-6C8D04829015}">
  <a:tblStyle styleId="{5C467FC6-CA59-4B7A-9D0F-6C8D04829015}"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941"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customschemas.google.com/relationships/presentationmetadata" Target="metadata"/><Relationship Id="rId20" Type="http://schemas.openxmlformats.org/officeDocument/2006/relationships/slide" Target="slides/slide19.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ae73a251e8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g3ae73a251e8_0_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ae73a251e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g3ae73a251e8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ae73a251e8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ae73a251e8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ae73a251e8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3ae73a251e8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81534ec281_0_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381534ec281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81534ec281_0_1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 name="Google Shape;156;g381534ec281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81534ec281_0_1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g381534ec281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81534ec281_0_2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g381534ec281_0_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ae73a251e8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g3ae73a251e8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81534ec281_0_2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g381534ec281_0_2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81534ec281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g381534ec281_0_3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81534ec281_0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g381534ec281_0_3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ae73a251e8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2" name="Google Shape;282;g3ae73a251e8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ae73a251e8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2" name="Google Shape;292;g3ae73a251e8_0_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81534ec281_0_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2" name="Google Shape;302;g381534ec281_0_2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ae73a251e8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2" name="Google Shape;332;g3ae73a251e8_0_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ae73a251e8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2" name="Google Shape;342;g3ae73a251e8_0_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ae73a251e8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2" name="Google Shape;352;g3ae73a251e8_0_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b40712d12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3" name="Google Shape;363;g3b40712d12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bb64976f0e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g3bb64976f0e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3ae73a251e8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5" name="Google Shape;385;g3ae73a251e8_0_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5" name="Google Shape;39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5" name="Google Shape;40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1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2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2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2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2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2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2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2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2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24"/>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4"/>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openneuro.org"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g3ae73a251e8_0_107"/>
          <p:cNvSpPr txBox="1">
            <a:spLocks noGrp="1"/>
          </p:cNvSpPr>
          <p:nvPr>
            <p:ph type="ctrTitle"/>
          </p:nvPr>
        </p:nvSpPr>
        <p:spPr>
          <a:xfrm>
            <a:off x="311700" y="232700"/>
            <a:ext cx="8520600" cy="11961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ct val="71278"/>
              <a:buNone/>
            </a:pPr>
            <a:r>
              <a:rPr lang="en-GB" sz="1388" b="1"/>
              <a:t>Department of Computer Science and Engineering</a:t>
            </a:r>
            <a:endParaRPr sz="1388" b="1"/>
          </a:p>
          <a:p>
            <a:pPr marL="0" lvl="0" indent="0" algn="ctr" rtl="0">
              <a:lnSpc>
                <a:spcPct val="100000"/>
              </a:lnSpc>
              <a:spcBef>
                <a:spcPts val="0"/>
              </a:spcBef>
              <a:spcAft>
                <a:spcPts val="0"/>
              </a:spcAft>
              <a:buSzPct val="71278"/>
              <a:buNone/>
            </a:pPr>
            <a:endParaRPr sz="1388" b="1"/>
          </a:p>
          <a:p>
            <a:pPr marL="914400" lvl="0" indent="457200" algn="l" rtl="0">
              <a:lnSpc>
                <a:spcPct val="100000"/>
              </a:lnSpc>
              <a:spcBef>
                <a:spcPts val="0"/>
              </a:spcBef>
              <a:spcAft>
                <a:spcPts val="0"/>
              </a:spcAft>
              <a:buSzPct val="54000"/>
              <a:buNone/>
            </a:pPr>
            <a:r>
              <a:rPr lang="en-GB" sz="1833"/>
              <a:t>VIGNAN’S LARA INSTITUTE OF TECHNOLOGY AND SCIENCE</a:t>
            </a:r>
            <a:endParaRPr sz="1833"/>
          </a:p>
          <a:p>
            <a:pPr marL="0" lvl="0" indent="0" algn="ctr" rtl="0">
              <a:lnSpc>
                <a:spcPct val="100000"/>
              </a:lnSpc>
              <a:spcBef>
                <a:spcPts val="0"/>
              </a:spcBef>
              <a:spcAft>
                <a:spcPts val="0"/>
              </a:spcAft>
              <a:buSzPct val="71278"/>
              <a:buNone/>
            </a:pPr>
            <a:endParaRPr sz="1388"/>
          </a:p>
          <a:p>
            <a:pPr marL="0" lvl="0" indent="0" algn="l" rtl="0">
              <a:lnSpc>
                <a:spcPct val="100000"/>
              </a:lnSpc>
              <a:spcBef>
                <a:spcPts val="0"/>
              </a:spcBef>
              <a:spcAft>
                <a:spcPts val="0"/>
              </a:spcAft>
              <a:buSzPct val="71278"/>
              <a:buNone/>
            </a:pPr>
            <a:endParaRPr sz="1388"/>
          </a:p>
        </p:txBody>
      </p:sp>
      <p:sp>
        <p:nvSpPr>
          <p:cNvPr id="55" name="Google Shape;55;g3ae73a251e8_0_107"/>
          <p:cNvSpPr txBox="1">
            <a:spLocks noGrp="1"/>
          </p:cNvSpPr>
          <p:nvPr>
            <p:ph type="subTitle" idx="1"/>
          </p:nvPr>
        </p:nvSpPr>
        <p:spPr>
          <a:xfrm>
            <a:off x="1287475" y="1137442"/>
            <a:ext cx="6905700" cy="1525200"/>
          </a:xfrm>
          <a:prstGeom prst="rect">
            <a:avLst/>
          </a:prstGeom>
          <a:noFill/>
          <a:ln>
            <a:noFill/>
          </a:ln>
        </p:spPr>
        <p:txBody>
          <a:bodyPr spcFirstLastPara="1" wrap="square" lIns="91425" tIns="91425" rIns="91425" bIns="91425" anchor="t" anchorCtr="0">
            <a:normAutofit fontScale="85000" lnSpcReduction="20000"/>
          </a:bodyPr>
          <a:lstStyle/>
          <a:p>
            <a:pPr marL="0" lvl="0" indent="0" algn="ctr" rtl="0">
              <a:lnSpc>
                <a:spcPct val="100000"/>
              </a:lnSpc>
              <a:spcBef>
                <a:spcPts val="0"/>
              </a:spcBef>
              <a:spcAft>
                <a:spcPts val="0"/>
              </a:spcAft>
              <a:buClr>
                <a:srgbClr val="000000"/>
              </a:buClr>
              <a:buSzPct val="98039"/>
              <a:buNone/>
            </a:pPr>
            <a:r>
              <a:rPr lang="en-GB" sz="2400">
                <a:solidFill>
                  <a:schemeClr val="dk1"/>
                </a:solidFill>
                <a:latin typeface="Times New Roman"/>
                <a:ea typeface="Times New Roman"/>
                <a:cs typeface="Times New Roman"/>
                <a:sym typeface="Times New Roman"/>
              </a:rPr>
              <a:t>Project Review </a:t>
            </a:r>
            <a:endParaRPr sz="240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rgbClr val="000000"/>
              </a:buClr>
              <a:buSzPct val="98039"/>
              <a:buNone/>
            </a:pPr>
            <a:r>
              <a:rPr lang="en-GB" sz="2400">
                <a:solidFill>
                  <a:schemeClr val="dk1"/>
                </a:solidFill>
                <a:latin typeface="Times New Roman"/>
                <a:ea typeface="Times New Roman"/>
                <a:cs typeface="Times New Roman"/>
                <a:sym typeface="Times New Roman"/>
              </a:rPr>
              <a:t>On</a:t>
            </a:r>
            <a:endParaRPr sz="24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rgbClr val="000000"/>
              </a:buClr>
              <a:buSzPct val="98039"/>
              <a:buNone/>
            </a:pPr>
            <a:r>
              <a:rPr lang="en-GB"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rgbClr val="000000"/>
              </a:buClr>
              <a:buSzPct val="98039"/>
              <a:buNone/>
            </a:pPr>
            <a:r>
              <a:rPr lang="en-GB" sz="2400" b="1">
                <a:solidFill>
                  <a:schemeClr val="dk1"/>
                </a:solidFill>
                <a:latin typeface="Times New Roman"/>
                <a:ea typeface="Times New Roman"/>
                <a:cs typeface="Times New Roman"/>
                <a:sym typeface="Times New Roman"/>
              </a:rPr>
              <a:t>Data-Driven Methods for Early Detection of Neurodegenerative Disorder</a:t>
            </a:r>
            <a:endParaRPr sz="2600" b="1">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SzPct val="164706"/>
              <a:buNone/>
            </a:pPr>
            <a:endParaRPr sz="2000">
              <a:latin typeface="Times New Roman"/>
              <a:ea typeface="Times New Roman"/>
              <a:cs typeface="Times New Roman"/>
              <a:sym typeface="Times New Roman"/>
            </a:endParaRPr>
          </a:p>
        </p:txBody>
      </p:sp>
      <p:pic>
        <p:nvPicPr>
          <p:cNvPr id="56" name="Google Shape;56;g3ae73a251e8_0_107" descr="logo.png"/>
          <p:cNvPicPr preferRelativeResize="0"/>
          <p:nvPr/>
        </p:nvPicPr>
        <p:blipFill rotWithShape="1">
          <a:blip r:embed="rId3">
            <a:alphaModFix/>
          </a:blip>
          <a:srcRect/>
          <a:stretch/>
        </p:blipFill>
        <p:spPr>
          <a:xfrm>
            <a:off x="690571" y="232703"/>
            <a:ext cx="928695" cy="857256"/>
          </a:xfrm>
          <a:prstGeom prst="rect">
            <a:avLst/>
          </a:prstGeom>
          <a:noFill/>
          <a:ln>
            <a:noFill/>
          </a:ln>
        </p:spPr>
      </p:pic>
      <p:sp>
        <p:nvSpPr>
          <p:cNvPr id="57" name="Google Shape;57;g3ae73a251e8_0_107"/>
          <p:cNvSpPr txBox="1"/>
          <p:nvPr/>
        </p:nvSpPr>
        <p:spPr>
          <a:xfrm>
            <a:off x="311700" y="3216211"/>
            <a:ext cx="4004400" cy="1377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GB" sz="1500" b="0" i="0" u="none" strike="noStrike" cap="none">
                <a:solidFill>
                  <a:schemeClr val="dk1"/>
                </a:solidFill>
                <a:latin typeface="Times New Roman"/>
                <a:ea typeface="Times New Roman"/>
                <a:cs typeface="Times New Roman"/>
                <a:sym typeface="Times New Roman"/>
              </a:rPr>
              <a:t>Under The Esteemed Guidance of</a:t>
            </a:r>
            <a:endParaRPr sz="150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GB" sz="1500" b="1" i="0" u="none" strike="noStrike" cap="none">
                <a:solidFill>
                  <a:srgbClr val="0C0C0C"/>
                </a:solidFill>
                <a:latin typeface="Times New Roman"/>
                <a:ea typeface="Times New Roman"/>
                <a:cs typeface="Times New Roman"/>
                <a:sym typeface="Times New Roman"/>
              </a:rPr>
              <a:t>Mr. Ch. Yadhavendra Kumar </a:t>
            </a:r>
            <a:r>
              <a:rPr lang="en-GB" sz="1200" b="1" i="1" u="none" strike="noStrike" cap="none">
                <a:solidFill>
                  <a:srgbClr val="0C0C0C"/>
                </a:solidFill>
                <a:latin typeface="Times New Roman"/>
                <a:ea typeface="Times New Roman"/>
                <a:cs typeface="Times New Roman"/>
                <a:sym typeface="Times New Roman"/>
              </a:rPr>
              <a:t>M.Tech , Ph.D</a:t>
            </a:r>
            <a:endParaRPr sz="1200" b="1" i="1"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GB" sz="1500" b="0" i="0" u="none" strike="noStrike" cap="none">
                <a:solidFill>
                  <a:schemeClr val="dk1"/>
                </a:solidFill>
                <a:latin typeface="Times New Roman"/>
                <a:ea typeface="Times New Roman"/>
                <a:cs typeface="Times New Roman"/>
                <a:sym typeface="Times New Roman"/>
              </a:rPr>
              <a:t>Assistant Professor</a:t>
            </a:r>
            <a:endParaRPr sz="150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GB" sz="1500" b="0" i="0" u="none" strike="noStrike" cap="none">
                <a:solidFill>
                  <a:schemeClr val="dk1"/>
                </a:solidFill>
                <a:latin typeface="Times New Roman"/>
                <a:ea typeface="Times New Roman"/>
                <a:cs typeface="Times New Roman"/>
                <a:sym typeface="Times New Roman"/>
              </a:rPr>
              <a:t>Department of CSE </a:t>
            </a:r>
            <a:endParaRPr sz="1500" b="0" i="0" u="none" strike="noStrike" cap="none">
              <a:solidFill>
                <a:srgbClr val="000000"/>
              </a:solidFill>
              <a:latin typeface="Times New Roman"/>
              <a:ea typeface="Times New Roman"/>
              <a:cs typeface="Times New Roman"/>
              <a:sym typeface="Times New Roman"/>
            </a:endParaRPr>
          </a:p>
        </p:txBody>
      </p:sp>
      <p:sp>
        <p:nvSpPr>
          <p:cNvPr id="58" name="Google Shape;58;g3ae73a251e8_0_10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1</a:t>
            </a:fld>
            <a:endParaRPr/>
          </a:p>
        </p:txBody>
      </p:sp>
      <p:sp>
        <p:nvSpPr>
          <p:cNvPr id="59" name="Google Shape;59;g3ae73a251e8_0_107"/>
          <p:cNvSpPr txBox="1"/>
          <p:nvPr/>
        </p:nvSpPr>
        <p:spPr>
          <a:xfrm>
            <a:off x="-1258859" y="4663217"/>
            <a:ext cx="9069600" cy="393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dirty="0">
                <a:solidFill>
                  <a:schemeClr val="dk2"/>
                </a:solidFill>
              </a:rPr>
              <a:t>23/01/2026</a:t>
            </a:r>
            <a:r>
              <a:rPr lang="en-GB" sz="1500" b="0" i="0" u="none" strike="noStrike" cap="none" dirty="0">
                <a:solidFill>
                  <a:schemeClr val="dk2"/>
                </a:solidFill>
                <a:latin typeface="Arial"/>
                <a:ea typeface="Arial"/>
                <a:cs typeface="Arial"/>
                <a:sym typeface="Arial"/>
              </a:rPr>
              <a:t>		</a:t>
            </a:r>
            <a:r>
              <a:rPr lang="en-GB" sz="1500" dirty="0">
                <a:solidFill>
                  <a:schemeClr val="dk2"/>
                </a:solidFill>
              </a:rPr>
              <a:t>   </a:t>
            </a:r>
            <a:r>
              <a:rPr lang="en-GB" sz="1388" b="0" i="0" u="none" strike="noStrike" cap="none" dirty="0">
                <a:solidFill>
                  <a:schemeClr val="dk1"/>
                </a:solidFill>
                <a:latin typeface="Arial"/>
                <a:ea typeface="Arial"/>
                <a:cs typeface="Arial"/>
                <a:sym typeface="Arial"/>
              </a:rPr>
              <a:t>Department of Computer Science and Engineering</a:t>
            </a:r>
            <a:endParaRPr sz="1388"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GB" sz="1500" b="0" i="0" u="none" strike="noStrike" cap="none" dirty="0">
                <a:solidFill>
                  <a:schemeClr val="dk2"/>
                </a:solidFill>
                <a:latin typeface="Arial"/>
                <a:ea typeface="Arial"/>
                <a:cs typeface="Arial"/>
                <a:sym typeface="Arial"/>
              </a:rPr>
              <a:t>		</a:t>
            </a:r>
            <a:endParaRPr sz="1000" b="0" i="0" u="none" strike="noStrike" cap="none" dirty="0">
              <a:solidFill>
                <a:schemeClr val="dk2"/>
              </a:solidFill>
              <a:latin typeface="Arial"/>
              <a:ea typeface="Arial"/>
              <a:cs typeface="Arial"/>
              <a:sym typeface="Arial"/>
            </a:endParaRPr>
          </a:p>
        </p:txBody>
      </p:sp>
      <p:sp>
        <p:nvSpPr>
          <p:cNvPr id="60" name="Google Shape;60;g3ae73a251e8_0_107"/>
          <p:cNvSpPr txBox="1"/>
          <p:nvPr/>
        </p:nvSpPr>
        <p:spPr>
          <a:xfrm>
            <a:off x="7139354" y="3168728"/>
            <a:ext cx="2364600" cy="1154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GB" sz="1300" b="0" i="0" u="none" strike="noStrike" cap="none">
                <a:solidFill>
                  <a:srgbClr val="0C0C0C"/>
                </a:solidFill>
                <a:latin typeface="Arial"/>
                <a:ea typeface="Arial"/>
                <a:cs typeface="Arial"/>
                <a:sym typeface="Arial"/>
              </a:rPr>
              <a:t>(22FE1A0578)</a:t>
            </a:r>
            <a:endParaRPr sz="1300" b="0" i="0" u="none" strike="noStrike" cap="none">
              <a:solidFill>
                <a:srgbClr val="0C0C0C"/>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GB" sz="1300" b="0" i="0" u="none" strike="noStrike" cap="none">
                <a:solidFill>
                  <a:srgbClr val="0C0C0C"/>
                </a:solidFill>
                <a:latin typeface="Arial"/>
                <a:ea typeface="Arial"/>
                <a:cs typeface="Arial"/>
                <a:sym typeface="Arial"/>
              </a:rPr>
              <a:t>(22FE1A0565)</a:t>
            </a:r>
            <a:endParaRPr sz="1300" b="0" i="0" u="none" strike="noStrike" cap="none">
              <a:solidFill>
                <a:srgbClr val="0C0C0C"/>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GB" sz="1300" b="0" i="0" u="none" strike="noStrike" cap="none">
                <a:solidFill>
                  <a:srgbClr val="0C0C0C"/>
                </a:solidFill>
                <a:latin typeface="Arial"/>
                <a:ea typeface="Arial"/>
                <a:cs typeface="Arial"/>
                <a:sym typeface="Arial"/>
              </a:rPr>
              <a:t>(22FE1A0575)</a:t>
            </a:r>
            <a:endParaRPr sz="1300" b="0" i="0" u="none" strike="noStrike" cap="none">
              <a:solidFill>
                <a:srgbClr val="0C0C0C"/>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GB" sz="1300" b="0" i="0" u="none" strike="noStrike" cap="none">
                <a:solidFill>
                  <a:srgbClr val="0C0C0C"/>
                </a:solidFill>
                <a:latin typeface="Arial"/>
                <a:ea typeface="Arial"/>
                <a:cs typeface="Arial"/>
                <a:sym typeface="Arial"/>
              </a:rPr>
              <a:t>(22FE1A0593</a:t>
            </a:r>
            <a:r>
              <a:rPr lang="en-GB" sz="1300" b="0" i="0" u="none" strike="noStrike" cap="none">
                <a:solidFill>
                  <a:schemeClr val="dk2"/>
                </a:solidFill>
                <a:latin typeface="Arial"/>
                <a:ea typeface="Arial"/>
                <a:cs typeface="Arial"/>
                <a:sym typeface="Arial"/>
              </a:rPr>
              <a:t>)</a:t>
            </a:r>
            <a:endParaRPr sz="1300" b="0" i="0" u="none" strike="noStrike" cap="none">
              <a:solidFill>
                <a:schemeClr val="dk2"/>
              </a:solidFill>
              <a:latin typeface="Arial"/>
              <a:ea typeface="Arial"/>
              <a:cs typeface="Arial"/>
              <a:sym typeface="Arial"/>
            </a:endParaRPr>
          </a:p>
        </p:txBody>
      </p:sp>
      <p:sp>
        <p:nvSpPr>
          <p:cNvPr id="61" name="Google Shape;61;g3ae73a251e8_0_107"/>
          <p:cNvSpPr txBox="1"/>
          <p:nvPr/>
        </p:nvSpPr>
        <p:spPr>
          <a:xfrm>
            <a:off x="4967909" y="3168728"/>
            <a:ext cx="3765600" cy="1154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GB" sz="1300" b="1" i="0" u="sng" strike="noStrike" cap="none">
                <a:solidFill>
                  <a:srgbClr val="171717"/>
                </a:solidFill>
                <a:latin typeface="Times New Roman"/>
                <a:ea typeface="Times New Roman"/>
                <a:cs typeface="Times New Roman"/>
                <a:sym typeface="Times New Roman"/>
              </a:rPr>
              <a:t>PRESENTED BY:                      </a:t>
            </a:r>
            <a:endParaRPr sz="1300" b="1" i="0" u="sng" strike="noStrike" cap="none">
              <a:solidFill>
                <a:srgbClr val="171717"/>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GB" sz="1300" b="0" i="0" u="none" strike="noStrike" cap="none">
                <a:solidFill>
                  <a:srgbClr val="171717"/>
                </a:solidFill>
                <a:latin typeface="Times New Roman"/>
                <a:ea typeface="Times New Roman"/>
                <a:cs typeface="Times New Roman"/>
                <a:sym typeface="Times New Roman"/>
              </a:rPr>
              <a:t>K.EMMANUEL WATSON</a:t>
            </a:r>
            <a:endParaRPr sz="1300" b="0" i="0" u="none" strike="noStrike" cap="none">
              <a:solidFill>
                <a:srgbClr val="171717"/>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GB" sz="1300" b="0" i="0" u="none" strike="noStrike" cap="none">
                <a:solidFill>
                  <a:srgbClr val="171717"/>
                </a:solidFill>
                <a:latin typeface="Times New Roman"/>
                <a:ea typeface="Times New Roman"/>
                <a:cs typeface="Times New Roman"/>
                <a:sym typeface="Times New Roman"/>
              </a:rPr>
              <a:t>I.NAVEEN KUMAR</a:t>
            </a:r>
            <a:endParaRPr/>
          </a:p>
          <a:p>
            <a:pPr marL="0" marR="0" lvl="0" indent="0" algn="l" rtl="0">
              <a:lnSpc>
                <a:spcPct val="100000"/>
              </a:lnSpc>
              <a:spcBef>
                <a:spcPts val="0"/>
              </a:spcBef>
              <a:spcAft>
                <a:spcPts val="0"/>
              </a:spcAft>
              <a:buNone/>
            </a:pPr>
            <a:r>
              <a:rPr lang="en-GB" sz="1300" b="0" i="0" u="none" strike="noStrike" cap="none">
                <a:solidFill>
                  <a:srgbClr val="171717"/>
                </a:solidFill>
                <a:latin typeface="Times New Roman"/>
                <a:ea typeface="Times New Roman"/>
                <a:cs typeface="Times New Roman"/>
                <a:sym typeface="Times New Roman"/>
              </a:rPr>
              <a:t>K.SAI VINAY</a:t>
            </a:r>
            <a:endParaRPr/>
          </a:p>
          <a:p>
            <a:pPr marL="0" marR="0" lvl="0" indent="0" algn="l" rtl="0">
              <a:lnSpc>
                <a:spcPct val="100000"/>
              </a:lnSpc>
              <a:spcBef>
                <a:spcPts val="0"/>
              </a:spcBef>
              <a:spcAft>
                <a:spcPts val="0"/>
              </a:spcAft>
              <a:buClr>
                <a:srgbClr val="000000"/>
              </a:buClr>
              <a:buSzPts val="1300"/>
              <a:buFont typeface="Arial"/>
              <a:buNone/>
            </a:pPr>
            <a:r>
              <a:rPr lang="en-GB" sz="1300" b="0" i="0" u="none" strike="noStrike" cap="none">
                <a:solidFill>
                  <a:srgbClr val="171717"/>
                </a:solidFill>
                <a:latin typeface="Times New Roman"/>
                <a:ea typeface="Times New Roman"/>
                <a:cs typeface="Times New Roman"/>
                <a:sym typeface="Times New Roman"/>
              </a:rPr>
              <a:t>K.ARUN KUMAR</a:t>
            </a:r>
            <a:endParaRPr sz="1300" b="0" i="0" u="none" strike="noStrike" cap="none">
              <a:solidFill>
                <a:srgbClr val="171717"/>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2</a:t>
            </a:fld>
            <a:endParaRPr/>
          </a:p>
        </p:txBody>
      </p:sp>
      <p:pic>
        <p:nvPicPr>
          <p:cNvPr id="67" name="Google Shape;67;p2" descr="logo.png"/>
          <p:cNvPicPr preferRelativeResize="0"/>
          <p:nvPr/>
        </p:nvPicPr>
        <p:blipFill rotWithShape="1">
          <a:blip r:embed="rId3">
            <a:alphaModFix/>
          </a:blip>
          <a:srcRect/>
          <a:stretch/>
        </p:blipFill>
        <p:spPr>
          <a:xfrm>
            <a:off x="201221" y="133128"/>
            <a:ext cx="928695" cy="857256"/>
          </a:xfrm>
          <a:prstGeom prst="rect">
            <a:avLst/>
          </a:prstGeom>
          <a:noFill/>
          <a:ln>
            <a:noFill/>
          </a:ln>
        </p:spPr>
      </p:pic>
      <p:sp>
        <p:nvSpPr>
          <p:cNvPr id="68" name="Google Shape;68;p2"/>
          <p:cNvSpPr txBox="1"/>
          <p:nvPr/>
        </p:nvSpPr>
        <p:spPr>
          <a:xfrm>
            <a:off x="1235100" y="0"/>
            <a:ext cx="7908900" cy="11235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69" name="Google Shape;69;p2"/>
          <p:cNvSpPr txBox="1"/>
          <p:nvPr/>
        </p:nvSpPr>
        <p:spPr>
          <a:xfrm>
            <a:off x="1243950" y="50700"/>
            <a:ext cx="7891200" cy="10221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4100"/>
              <a:buFont typeface="Arial"/>
              <a:buNone/>
            </a:pPr>
            <a:r>
              <a:rPr lang="en-GB" sz="4100" b="0" i="0" u="none" strike="noStrike" cap="none">
                <a:solidFill>
                  <a:schemeClr val="lt1"/>
                </a:solidFill>
                <a:latin typeface="Arial"/>
                <a:ea typeface="Arial"/>
                <a:cs typeface="Arial"/>
                <a:sym typeface="Arial"/>
              </a:rPr>
              <a:t>TITLE</a:t>
            </a:r>
            <a:endParaRPr sz="4000" b="0" i="0" u="none" strike="noStrike" cap="none">
              <a:solidFill>
                <a:schemeClr val="lt1"/>
              </a:solidFill>
              <a:latin typeface="Arial"/>
              <a:ea typeface="Arial"/>
              <a:cs typeface="Arial"/>
              <a:sym typeface="Arial"/>
            </a:endParaRPr>
          </a:p>
        </p:txBody>
      </p:sp>
      <p:sp>
        <p:nvSpPr>
          <p:cNvPr id="70" name="Google Shape;70;p2"/>
          <p:cNvSpPr txBox="1"/>
          <p:nvPr/>
        </p:nvSpPr>
        <p:spPr>
          <a:xfrm>
            <a:off x="611125" y="1735599"/>
            <a:ext cx="7720800" cy="1592817"/>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2353"/>
              <a:buFont typeface="Arial"/>
              <a:buNone/>
            </a:pPr>
            <a:r>
              <a:rPr lang="en-GB" sz="2700" b="1">
                <a:solidFill>
                  <a:schemeClr val="dk1"/>
                </a:solidFill>
                <a:latin typeface="Times New Roman"/>
                <a:ea typeface="Times New Roman"/>
                <a:cs typeface="Times New Roman"/>
                <a:sym typeface="Times New Roman"/>
              </a:rPr>
              <a:t>Data-Driven Methods for Early Detection of Neurodegenerative Disorders</a:t>
            </a:r>
            <a:endParaRPr sz="4300" b="1" i="1" u="sng" strike="noStrike" cap="none">
              <a:solidFill>
                <a:schemeClr val="dk2"/>
              </a:solidFill>
              <a:latin typeface="Times New Roman"/>
              <a:ea typeface="Times New Roman"/>
              <a:cs typeface="Times New Roman"/>
              <a:sym typeface="Times New Roman"/>
            </a:endParaRPr>
          </a:p>
        </p:txBody>
      </p:sp>
      <p:sp>
        <p:nvSpPr>
          <p:cNvPr id="71" name="Google Shape;71;p2"/>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3</a:t>
            </a:fld>
            <a:endParaRPr/>
          </a:p>
        </p:txBody>
      </p:sp>
      <p:pic>
        <p:nvPicPr>
          <p:cNvPr id="77" name="Google Shape;77;p3" descr="logo.png"/>
          <p:cNvPicPr preferRelativeResize="0"/>
          <p:nvPr/>
        </p:nvPicPr>
        <p:blipFill rotWithShape="1">
          <a:blip r:embed="rId3">
            <a:alphaModFix/>
          </a:blip>
          <a:srcRect/>
          <a:stretch/>
        </p:blipFill>
        <p:spPr>
          <a:xfrm>
            <a:off x="201221" y="133128"/>
            <a:ext cx="928695" cy="857256"/>
          </a:xfrm>
          <a:prstGeom prst="rect">
            <a:avLst/>
          </a:prstGeom>
          <a:noFill/>
          <a:ln>
            <a:noFill/>
          </a:ln>
        </p:spPr>
      </p:pic>
      <p:sp>
        <p:nvSpPr>
          <p:cNvPr id="78" name="Google Shape;78;p3"/>
          <p:cNvSpPr txBox="1"/>
          <p:nvPr/>
        </p:nvSpPr>
        <p:spPr>
          <a:xfrm>
            <a:off x="1235100" y="0"/>
            <a:ext cx="7908900" cy="11235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79" name="Google Shape;79;p3"/>
          <p:cNvSpPr txBox="1"/>
          <p:nvPr/>
        </p:nvSpPr>
        <p:spPr>
          <a:xfrm>
            <a:off x="1243950" y="50700"/>
            <a:ext cx="7891200" cy="10221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800"/>
              <a:buFont typeface="Arial"/>
              <a:buNone/>
            </a:pPr>
            <a:r>
              <a:rPr lang="en-GB" sz="3800" b="0" i="0" u="none" strike="noStrike" cap="none">
                <a:solidFill>
                  <a:schemeClr val="lt1"/>
                </a:solidFill>
                <a:latin typeface="Georgia"/>
                <a:ea typeface="Georgia"/>
                <a:cs typeface="Georgia"/>
                <a:sym typeface="Georgia"/>
              </a:rPr>
              <a:t>CONTENTS</a:t>
            </a:r>
            <a:endParaRPr sz="3700" b="0" i="0" u="none" strike="noStrike" cap="none">
              <a:solidFill>
                <a:schemeClr val="lt1"/>
              </a:solidFill>
              <a:latin typeface="Georgia"/>
              <a:ea typeface="Georgia"/>
              <a:cs typeface="Georgia"/>
              <a:sym typeface="Georgia"/>
            </a:endParaRPr>
          </a:p>
        </p:txBody>
      </p:sp>
      <p:sp>
        <p:nvSpPr>
          <p:cNvPr id="80" name="Google Shape;80;p3"/>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81" name="Google Shape;81;p3"/>
          <p:cNvSpPr txBox="1"/>
          <p:nvPr/>
        </p:nvSpPr>
        <p:spPr>
          <a:xfrm>
            <a:off x="2646625" y="1262600"/>
            <a:ext cx="5310300" cy="3239700"/>
          </a:xfrm>
          <a:prstGeom prst="rect">
            <a:avLst/>
          </a:prstGeom>
          <a:noFill/>
          <a:ln>
            <a:noFill/>
          </a:ln>
        </p:spPr>
        <p:txBody>
          <a:bodyPr spcFirstLastPara="1" wrap="square" lIns="91425" tIns="91425" rIns="91425" bIns="91425" anchor="t" anchorCtr="0">
            <a:noAutofit/>
          </a:bodyPr>
          <a:lstStyle/>
          <a:p>
            <a:pPr marL="431800" marR="0" lvl="0" indent="-342900" algn="l" rtl="0">
              <a:lnSpc>
                <a:spcPct val="100000"/>
              </a:lnSpc>
              <a:spcBef>
                <a:spcPts val="0"/>
              </a:spcBef>
              <a:spcAft>
                <a:spcPts val="0"/>
              </a:spcAft>
              <a:buClr>
                <a:schemeClr val="dk1"/>
              </a:buClr>
              <a:buSzPts val="2200"/>
              <a:buFont typeface="Noto Sans Symbols"/>
              <a:buChar char="✔"/>
            </a:pPr>
            <a:r>
              <a:rPr lang="en-GB" sz="2200" b="0" i="0" u="none" strike="noStrike" cap="none">
                <a:solidFill>
                  <a:schemeClr val="dk1"/>
                </a:solidFill>
                <a:latin typeface="Calibri"/>
                <a:ea typeface="Calibri"/>
                <a:cs typeface="Calibri"/>
                <a:sym typeface="Calibri"/>
              </a:rPr>
              <a:t> </a:t>
            </a:r>
            <a:r>
              <a:rPr lang="en-GB" sz="2200" i="0" u="none" strike="noStrike" cap="none">
                <a:solidFill>
                  <a:schemeClr val="dk1"/>
                </a:solidFill>
                <a:latin typeface="Times New Roman"/>
                <a:ea typeface="Times New Roman"/>
                <a:cs typeface="Times New Roman"/>
                <a:sym typeface="Times New Roman"/>
              </a:rPr>
              <a:t>Project</a:t>
            </a:r>
            <a:r>
              <a:rPr lang="en-GB" sz="2200" b="0" i="0" u="none" strike="noStrike" cap="none">
                <a:solidFill>
                  <a:schemeClr val="dk1"/>
                </a:solidFill>
                <a:latin typeface="Calibri"/>
                <a:ea typeface="Calibri"/>
                <a:cs typeface="Calibri"/>
                <a:sym typeface="Calibri"/>
              </a:rPr>
              <a:t> </a:t>
            </a:r>
            <a:r>
              <a:rPr lang="en-GB" sz="2200" b="0" i="0" u="none" strike="noStrike" cap="none">
                <a:solidFill>
                  <a:schemeClr val="dk1"/>
                </a:solidFill>
                <a:latin typeface="Times New Roman"/>
                <a:ea typeface="Times New Roman"/>
                <a:cs typeface="Times New Roman"/>
                <a:sym typeface="Times New Roman"/>
              </a:rPr>
              <a:t>Title</a:t>
            </a:r>
            <a:endParaRPr/>
          </a:p>
          <a:p>
            <a:pPr marL="431800" marR="0" lvl="0" indent="-342900" algn="l" rtl="0">
              <a:lnSpc>
                <a:spcPct val="100000"/>
              </a:lnSpc>
              <a:spcBef>
                <a:spcPts val="0"/>
              </a:spcBef>
              <a:spcAft>
                <a:spcPts val="0"/>
              </a:spcAft>
              <a:buClr>
                <a:schemeClr val="dk1"/>
              </a:buClr>
              <a:buSzPts val="2200"/>
              <a:buFont typeface="Noto Sans Symbols"/>
              <a:buChar char="✔"/>
            </a:pPr>
            <a:r>
              <a:rPr lang="en-GB" sz="2200" b="0" i="0" u="none" strike="noStrike" cap="none">
                <a:solidFill>
                  <a:schemeClr val="dk1"/>
                </a:solidFill>
                <a:latin typeface="Calibri"/>
                <a:ea typeface="Calibri"/>
                <a:cs typeface="Calibri"/>
                <a:sym typeface="Calibri"/>
              </a:rPr>
              <a:t> </a:t>
            </a:r>
            <a:r>
              <a:rPr lang="en-GB" sz="2200">
                <a:solidFill>
                  <a:schemeClr val="dk1"/>
                </a:solidFill>
                <a:latin typeface="Times New Roman"/>
                <a:ea typeface="Times New Roman"/>
                <a:cs typeface="Times New Roman"/>
                <a:sym typeface="Times New Roman"/>
              </a:rPr>
              <a:t>Problem statement</a:t>
            </a:r>
            <a:endParaRPr/>
          </a:p>
          <a:p>
            <a:pPr marL="431800" marR="0" lvl="0" indent="-342900" algn="l" rtl="0">
              <a:lnSpc>
                <a:spcPct val="100000"/>
              </a:lnSpc>
              <a:spcBef>
                <a:spcPts val="0"/>
              </a:spcBef>
              <a:spcAft>
                <a:spcPts val="0"/>
              </a:spcAft>
              <a:buClr>
                <a:schemeClr val="dk1"/>
              </a:buClr>
              <a:buSzPts val="2200"/>
              <a:buFont typeface="Noto Sans Symbols"/>
              <a:buChar char="✔"/>
            </a:pPr>
            <a:r>
              <a:rPr lang="en-GB" sz="2200" b="0" i="0" u="none" strike="noStrike" cap="none">
                <a:solidFill>
                  <a:schemeClr val="dk1"/>
                </a:solidFill>
                <a:latin typeface="Calibri"/>
                <a:ea typeface="Calibri"/>
                <a:cs typeface="Calibri"/>
                <a:sym typeface="Calibri"/>
              </a:rPr>
              <a:t> </a:t>
            </a:r>
            <a:r>
              <a:rPr lang="en-GB" sz="2200" b="0" i="0" u="none" strike="noStrike" cap="none">
                <a:solidFill>
                  <a:schemeClr val="dk1"/>
                </a:solidFill>
                <a:latin typeface="Times New Roman"/>
                <a:ea typeface="Times New Roman"/>
                <a:cs typeface="Times New Roman"/>
                <a:sym typeface="Times New Roman"/>
              </a:rPr>
              <a:t>Introduction</a:t>
            </a:r>
            <a:endParaRPr sz="2200" b="0" i="0" u="none" strike="noStrike" cap="none">
              <a:solidFill>
                <a:schemeClr val="dk1"/>
              </a:solidFill>
              <a:latin typeface="Times New Roman"/>
              <a:ea typeface="Times New Roman"/>
              <a:cs typeface="Times New Roman"/>
              <a:sym typeface="Times New Roman"/>
            </a:endParaRPr>
          </a:p>
          <a:p>
            <a:pPr marL="431800" marR="0" lvl="0" indent="-342900" algn="l" rtl="0">
              <a:lnSpc>
                <a:spcPct val="100000"/>
              </a:lnSpc>
              <a:spcBef>
                <a:spcPts val="0"/>
              </a:spcBef>
              <a:spcAft>
                <a:spcPts val="0"/>
              </a:spcAft>
              <a:buClr>
                <a:schemeClr val="dk1"/>
              </a:buClr>
              <a:buSzPts val="2200"/>
              <a:buFont typeface="Times New Roman"/>
              <a:buChar char="✔"/>
            </a:pPr>
            <a:r>
              <a:rPr lang="en-GB" sz="2200">
                <a:solidFill>
                  <a:schemeClr val="dk1"/>
                </a:solidFill>
                <a:latin typeface="Times New Roman"/>
                <a:ea typeface="Times New Roman"/>
                <a:cs typeface="Times New Roman"/>
                <a:sym typeface="Times New Roman"/>
              </a:rPr>
              <a:t>Motivation &amp; Background</a:t>
            </a:r>
            <a:endParaRPr sz="2200">
              <a:solidFill>
                <a:schemeClr val="dk1"/>
              </a:solidFill>
              <a:latin typeface="Times New Roman"/>
              <a:ea typeface="Times New Roman"/>
              <a:cs typeface="Times New Roman"/>
              <a:sym typeface="Times New Roman"/>
            </a:endParaRPr>
          </a:p>
          <a:p>
            <a:pPr marL="431800" marR="0" lvl="0" indent="-342900" algn="l" rtl="0">
              <a:lnSpc>
                <a:spcPct val="100000"/>
              </a:lnSpc>
              <a:spcBef>
                <a:spcPts val="0"/>
              </a:spcBef>
              <a:spcAft>
                <a:spcPts val="0"/>
              </a:spcAft>
              <a:buClr>
                <a:schemeClr val="dk1"/>
              </a:buClr>
              <a:buSzPts val="2200"/>
              <a:buFont typeface="Times New Roman"/>
              <a:buChar char="✔"/>
            </a:pPr>
            <a:r>
              <a:rPr lang="en-GB" sz="2200">
                <a:solidFill>
                  <a:schemeClr val="dk1"/>
                </a:solidFill>
                <a:latin typeface="Times New Roman"/>
                <a:ea typeface="Times New Roman"/>
                <a:cs typeface="Times New Roman"/>
                <a:sym typeface="Times New Roman"/>
              </a:rPr>
              <a:t>Objectives</a:t>
            </a:r>
            <a:endParaRPr sz="2200" b="0" i="0" u="none" strike="noStrike" cap="none">
              <a:solidFill>
                <a:schemeClr val="dk1"/>
              </a:solidFill>
              <a:latin typeface="Times New Roman"/>
              <a:ea typeface="Times New Roman"/>
              <a:cs typeface="Times New Roman"/>
              <a:sym typeface="Times New Roman"/>
            </a:endParaRPr>
          </a:p>
          <a:p>
            <a:pPr marL="431800" marR="0" lvl="0" indent="-342900" algn="l" rtl="0">
              <a:lnSpc>
                <a:spcPct val="100000"/>
              </a:lnSpc>
              <a:spcBef>
                <a:spcPts val="0"/>
              </a:spcBef>
              <a:spcAft>
                <a:spcPts val="0"/>
              </a:spcAft>
              <a:buClr>
                <a:schemeClr val="dk1"/>
              </a:buClr>
              <a:buSzPts val="2200"/>
              <a:buFont typeface="Times New Roman"/>
              <a:buChar char="✔"/>
            </a:pPr>
            <a:r>
              <a:rPr lang="en-GB" sz="2200">
                <a:solidFill>
                  <a:schemeClr val="dk1"/>
                </a:solidFill>
                <a:latin typeface="Times New Roman"/>
                <a:ea typeface="Times New Roman"/>
                <a:cs typeface="Times New Roman"/>
                <a:sym typeface="Times New Roman"/>
              </a:rPr>
              <a:t>Scope &amp; Limitations</a:t>
            </a:r>
            <a:endParaRPr sz="2200">
              <a:solidFill>
                <a:schemeClr val="dk1"/>
              </a:solidFill>
              <a:latin typeface="Times New Roman"/>
              <a:ea typeface="Times New Roman"/>
              <a:cs typeface="Times New Roman"/>
              <a:sym typeface="Times New Roman"/>
            </a:endParaRPr>
          </a:p>
          <a:p>
            <a:pPr marL="431800" marR="0" lvl="0" indent="-342900" algn="l" rtl="0">
              <a:lnSpc>
                <a:spcPct val="100000"/>
              </a:lnSpc>
              <a:spcBef>
                <a:spcPts val="0"/>
              </a:spcBef>
              <a:spcAft>
                <a:spcPts val="0"/>
              </a:spcAft>
              <a:buClr>
                <a:schemeClr val="dk1"/>
              </a:buClr>
              <a:buSzPts val="2200"/>
              <a:buFont typeface="Times New Roman"/>
              <a:buChar char="✔"/>
            </a:pPr>
            <a:r>
              <a:rPr lang="en-GB" sz="2200">
                <a:solidFill>
                  <a:schemeClr val="dk1"/>
                </a:solidFill>
                <a:latin typeface="Times New Roman"/>
                <a:ea typeface="Times New Roman"/>
                <a:cs typeface="Times New Roman"/>
                <a:sym typeface="Times New Roman"/>
              </a:rPr>
              <a:t>Literature Survey &amp; Existing System</a:t>
            </a:r>
            <a:endParaRPr sz="2200">
              <a:solidFill>
                <a:schemeClr val="dk1"/>
              </a:solidFill>
              <a:latin typeface="Times New Roman"/>
              <a:ea typeface="Times New Roman"/>
              <a:cs typeface="Times New Roman"/>
              <a:sym typeface="Times New Roman"/>
            </a:endParaRPr>
          </a:p>
          <a:p>
            <a:pPr marL="431800" marR="0" lvl="0" indent="-342900" algn="l" rtl="0">
              <a:lnSpc>
                <a:spcPct val="100000"/>
              </a:lnSpc>
              <a:spcBef>
                <a:spcPts val="0"/>
              </a:spcBef>
              <a:spcAft>
                <a:spcPts val="0"/>
              </a:spcAft>
              <a:buClr>
                <a:schemeClr val="dk1"/>
              </a:buClr>
              <a:buSzPts val="2200"/>
              <a:buFont typeface="Times New Roman"/>
              <a:buChar char="✔"/>
            </a:pPr>
            <a:r>
              <a:rPr lang="en-GB" sz="2200">
                <a:solidFill>
                  <a:schemeClr val="dk1"/>
                </a:solidFill>
                <a:latin typeface="Times New Roman"/>
                <a:ea typeface="Times New Roman"/>
                <a:cs typeface="Times New Roman"/>
                <a:sym typeface="Times New Roman"/>
              </a:rPr>
              <a:t>Gap Analysis</a:t>
            </a:r>
            <a:endParaRPr sz="2200">
              <a:solidFill>
                <a:schemeClr val="dk1"/>
              </a:solidFill>
              <a:latin typeface="Times New Roman"/>
              <a:ea typeface="Times New Roman"/>
              <a:cs typeface="Times New Roman"/>
              <a:sym typeface="Times New Roman"/>
            </a:endParaRPr>
          </a:p>
          <a:p>
            <a:pPr marL="431800" marR="0" lvl="0" indent="-342900" algn="l" rtl="0">
              <a:lnSpc>
                <a:spcPct val="100000"/>
              </a:lnSpc>
              <a:spcBef>
                <a:spcPts val="0"/>
              </a:spcBef>
              <a:spcAft>
                <a:spcPts val="0"/>
              </a:spcAft>
              <a:buClr>
                <a:schemeClr val="dk1"/>
              </a:buClr>
              <a:buSzPts val="2200"/>
              <a:buFont typeface="Times New Roman"/>
              <a:buChar char="✔"/>
            </a:pPr>
            <a:r>
              <a:rPr lang="en-GB" sz="2200">
                <a:solidFill>
                  <a:schemeClr val="dk1"/>
                </a:solidFill>
                <a:latin typeface="Times New Roman"/>
                <a:ea typeface="Times New Roman"/>
                <a:cs typeface="Times New Roman"/>
                <a:sym typeface="Times New Roman"/>
              </a:rPr>
              <a:t>Proposed System</a:t>
            </a:r>
            <a:endParaRPr sz="22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a:p>
          <a:p>
            <a:pPr marL="88900" marR="0" lvl="0" indent="0" algn="l" rtl="0">
              <a:lnSpc>
                <a:spcPct val="100000"/>
              </a:lnSpc>
              <a:spcBef>
                <a:spcPts val="0"/>
              </a:spcBef>
              <a:spcAft>
                <a:spcPts val="0"/>
              </a:spcAft>
              <a:buNone/>
            </a:pPr>
            <a:endParaRPr sz="1400" b="0" i="0" u="none" strike="noStrike" cap="non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g3ae73a251e8_0_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4</a:t>
            </a:fld>
            <a:endParaRPr/>
          </a:p>
        </p:txBody>
      </p:sp>
      <p:pic>
        <p:nvPicPr>
          <p:cNvPr id="87" name="Google Shape;87;g3ae73a251e8_0_6" descr="logo.png"/>
          <p:cNvPicPr preferRelativeResize="0"/>
          <p:nvPr/>
        </p:nvPicPr>
        <p:blipFill rotWithShape="1">
          <a:blip r:embed="rId3">
            <a:alphaModFix/>
          </a:blip>
          <a:srcRect/>
          <a:stretch/>
        </p:blipFill>
        <p:spPr>
          <a:xfrm>
            <a:off x="201221" y="133128"/>
            <a:ext cx="928695" cy="857256"/>
          </a:xfrm>
          <a:prstGeom prst="rect">
            <a:avLst/>
          </a:prstGeom>
          <a:noFill/>
          <a:ln>
            <a:noFill/>
          </a:ln>
        </p:spPr>
      </p:pic>
      <p:sp>
        <p:nvSpPr>
          <p:cNvPr id="88" name="Google Shape;88;g3ae73a251e8_0_6"/>
          <p:cNvSpPr txBox="1"/>
          <p:nvPr/>
        </p:nvSpPr>
        <p:spPr>
          <a:xfrm>
            <a:off x="1235100" y="0"/>
            <a:ext cx="7908900" cy="11235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89" name="Google Shape;89;g3ae73a251e8_0_6"/>
          <p:cNvSpPr txBox="1"/>
          <p:nvPr/>
        </p:nvSpPr>
        <p:spPr>
          <a:xfrm>
            <a:off x="1243950" y="50700"/>
            <a:ext cx="7891200" cy="10221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800"/>
              <a:buFont typeface="Arial"/>
              <a:buNone/>
            </a:pPr>
            <a:r>
              <a:rPr lang="en-GB" sz="3800" b="0" i="0" u="none" strike="noStrike" cap="none">
                <a:solidFill>
                  <a:schemeClr val="lt1"/>
                </a:solidFill>
                <a:latin typeface="Georgia"/>
                <a:ea typeface="Georgia"/>
                <a:cs typeface="Georgia"/>
                <a:sym typeface="Georgia"/>
              </a:rPr>
              <a:t>CONTENTS</a:t>
            </a:r>
            <a:endParaRPr sz="3700" b="0" i="0" u="none" strike="noStrike" cap="none">
              <a:solidFill>
                <a:schemeClr val="lt1"/>
              </a:solidFill>
              <a:latin typeface="Georgia"/>
              <a:ea typeface="Georgia"/>
              <a:cs typeface="Georgia"/>
              <a:sym typeface="Georgia"/>
            </a:endParaRPr>
          </a:p>
        </p:txBody>
      </p:sp>
      <p:sp>
        <p:nvSpPr>
          <p:cNvPr id="90" name="Google Shape;90;g3ae73a251e8_0_6"/>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91" name="Google Shape;91;g3ae73a251e8_0_6"/>
          <p:cNvSpPr txBox="1"/>
          <p:nvPr/>
        </p:nvSpPr>
        <p:spPr>
          <a:xfrm>
            <a:off x="442275" y="1257425"/>
            <a:ext cx="3899700" cy="3255900"/>
          </a:xfrm>
          <a:prstGeom prst="rect">
            <a:avLst/>
          </a:prstGeom>
          <a:noFill/>
          <a:ln>
            <a:noFill/>
          </a:ln>
        </p:spPr>
        <p:txBody>
          <a:bodyPr spcFirstLastPara="1" wrap="square" lIns="91425" tIns="91425" rIns="91425" bIns="91425" anchor="t" anchorCtr="0">
            <a:noAutofit/>
          </a:bodyPr>
          <a:lstStyle/>
          <a:p>
            <a:pPr marL="431800" marR="0" lvl="0" indent="-393700" algn="l" rtl="0">
              <a:lnSpc>
                <a:spcPct val="100000"/>
              </a:lnSpc>
              <a:spcBef>
                <a:spcPts val="0"/>
              </a:spcBef>
              <a:spcAft>
                <a:spcPts val="0"/>
              </a:spcAft>
              <a:buClr>
                <a:schemeClr val="dk1"/>
              </a:buClr>
              <a:buSzPts val="3000"/>
              <a:buFont typeface="Times New Roman"/>
              <a:buChar char="✔"/>
            </a:pPr>
            <a:r>
              <a:rPr lang="en-GB" sz="2200">
                <a:latin typeface="Times New Roman"/>
                <a:ea typeface="Times New Roman"/>
                <a:cs typeface="Times New Roman"/>
                <a:sym typeface="Times New Roman"/>
              </a:rPr>
              <a:t>System Architechture</a:t>
            </a:r>
            <a:endParaRPr sz="2200">
              <a:latin typeface="Times New Roman"/>
              <a:ea typeface="Times New Roman"/>
              <a:cs typeface="Times New Roman"/>
              <a:sym typeface="Times New Roman"/>
            </a:endParaRPr>
          </a:p>
          <a:p>
            <a:pPr marL="431800" marR="0" lvl="0" indent="-342900" algn="l" rtl="0">
              <a:lnSpc>
                <a:spcPct val="100000"/>
              </a:lnSpc>
              <a:spcBef>
                <a:spcPts val="0"/>
              </a:spcBef>
              <a:spcAft>
                <a:spcPts val="0"/>
              </a:spcAft>
              <a:buSzPts val="2200"/>
              <a:buFont typeface="Times New Roman"/>
              <a:buChar char="✔"/>
            </a:pPr>
            <a:r>
              <a:rPr lang="en-GB" sz="2200">
                <a:latin typeface="Times New Roman"/>
                <a:ea typeface="Times New Roman"/>
                <a:cs typeface="Times New Roman"/>
                <a:sym typeface="Times New Roman"/>
              </a:rPr>
              <a:t>Module Description</a:t>
            </a:r>
            <a:endParaRPr sz="2200">
              <a:latin typeface="Times New Roman"/>
              <a:ea typeface="Times New Roman"/>
              <a:cs typeface="Times New Roman"/>
              <a:sym typeface="Times New Roman"/>
            </a:endParaRPr>
          </a:p>
          <a:p>
            <a:pPr marL="431800" marR="0" lvl="0" indent="-342900" algn="l" rtl="0">
              <a:lnSpc>
                <a:spcPct val="100000"/>
              </a:lnSpc>
              <a:spcBef>
                <a:spcPts val="0"/>
              </a:spcBef>
              <a:spcAft>
                <a:spcPts val="0"/>
              </a:spcAft>
              <a:buSzPts val="2200"/>
              <a:buFont typeface="Times New Roman"/>
              <a:buChar char="✔"/>
            </a:pPr>
            <a:r>
              <a:rPr lang="en-GB" sz="2200">
                <a:latin typeface="Times New Roman"/>
                <a:ea typeface="Times New Roman"/>
                <a:cs typeface="Times New Roman"/>
                <a:sym typeface="Times New Roman"/>
              </a:rPr>
              <a:t>Technology Stack</a:t>
            </a:r>
            <a:endParaRPr sz="2200">
              <a:latin typeface="Times New Roman"/>
              <a:ea typeface="Times New Roman"/>
              <a:cs typeface="Times New Roman"/>
              <a:sym typeface="Times New Roman"/>
            </a:endParaRPr>
          </a:p>
          <a:p>
            <a:pPr marL="431800" marR="0" lvl="0" indent="-342900" algn="l" rtl="0">
              <a:lnSpc>
                <a:spcPct val="100000"/>
              </a:lnSpc>
              <a:spcBef>
                <a:spcPts val="0"/>
              </a:spcBef>
              <a:spcAft>
                <a:spcPts val="0"/>
              </a:spcAft>
              <a:buSzPts val="2200"/>
              <a:buFont typeface="Times New Roman"/>
              <a:buChar char="✔"/>
            </a:pPr>
            <a:r>
              <a:rPr lang="en-GB" sz="2200">
                <a:latin typeface="Times New Roman"/>
                <a:ea typeface="Times New Roman"/>
                <a:cs typeface="Times New Roman"/>
                <a:sym typeface="Times New Roman"/>
              </a:rPr>
              <a:t>Algorithms Used</a:t>
            </a:r>
            <a:endParaRPr sz="2200">
              <a:latin typeface="Times New Roman"/>
              <a:ea typeface="Times New Roman"/>
              <a:cs typeface="Times New Roman"/>
              <a:sym typeface="Times New Roman"/>
            </a:endParaRPr>
          </a:p>
          <a:p>
            <a:pPr marL="431800" marR="0" lvl="0" indent="-342900" algn="l" rtl="0">
              <a:lnSpc>
                <a:spcPct val="100000"/>
              </a:lnSpc>
              <a:spcBef>
                <a:spcPts val="0"/>
              </a:spcBef>
              <a:spcAft>
                <a:spcPts val="0"/>
              </a:spcAft>
              <a:buSzPts val="2200"/>
              <a:buFont typeface="Times New Roman"/>
              <a:buChar char="✔"/>
            </a:pPr>
            <a:r>
              <a:rPr lang="en-GB" sz="2200">
                <a:latin typeface="Times New Roman"/>
                <a:ea typeface="Times New Roman"/>
                <a:cs typeface="Times New Roman"/>
                <a:sym typeface="Times New Roman"/>
              </a:rPr>
              <a:t>Data Set Details</a:t>
            </a:r>
            <a:endParaRPr sz="2200">
              <a:latin typeface="Times New Roman"/>
              <a:ea typeface="Times New Roman"/>
              <a:cs typeface="Times New Roman"/>
              <a:sym typeface="Times New Roman"/>
            </a:endParaRPr>
          </a:p>
          <a:p>
            <a:pPr marL="431800" marR="0" lvl="0" indent="-342900" algn="l" rtl="0">
              <a:lnSpc>
                <a:spcPct val="100000"/>
              </a:lnSpc>
              <a:spcBef>
                <a:spcPts val="0"/>
              </a:spcBef>
              <a:spcAft>
                <a:spcPts val="0"/>
              </a:spcAft>
              <a:buSzPts val="2200"/>
              <a:buFont typeface="Times New Roman"/>
              <a:buChar char="✔"/>
            </a:pPr>
            <a:r>
              <a:rPr lang="en-GB" sz="2200">
                <a:latin typeface="Times New Roman"/>
                <a:ea typeface="Times New Roman"/>
                <a:cs typeface="Times New Roman"/>
                <a:sym typeface="Times New Roman"/>
              </a:rPr>
              <a:t>Work Progress</a:t>
            </a:r>
            <a:endParaRPr sz="2200">
              <a:latin typeface="Times New Roman"/>
              <a:ea typeface="Times New Roman"/>
              <a:cs typeface="Times New Roman"/>
              <a:sym typeface="Times New Roman"/>
            </a:endParaRPr>
          </a:p>
          <a:p>
            <a:pPr marL="431800" marR="0" lvl="0" indent="-342900" algn="l" rtl="0">
              <a:lnSpc>
                <a:spcPct val="100000"/>
              </a:lnSpc>
              <a:spcBef>
                <a:spcPts val="0"/>
              </a:spcBef>
              <a:spcAft>
                <a:spcPts val="0"/>
              </a:spcAft>
              <a:buSzPts val="2200"/>
              <a:buFont typeface="Times New Roman"/>
              <a:buChar char="✔"/>
            </a:pPr>
            <a:r>
              <a:rPr lang="en-GB" sz="2200">
                <a:latin typeface="Times New Roman"/>
                <a:ea typeface="Times New Roman"/>
                <a:cs typeface="Times New Roman"/>
                <a:sym typeface="Times New Roman"/>
              </a:rPr>
              <a:t>Sample Outputs</a:t>
            </a:r>
            <a:endParaRPr sz="2200">
              <a:latin typeface="Times New Roman"/>
              <a:ea typeface="Times New Roman"/>
              <a:cs typeface="Times New Roman"/>
              <a:sym typeface="Times New Roman"/>
            </a:endParaRPr>
          </a:p>
          <a:p>
            <a:pPr marL="431800" marR="0" lvl="0" indent="-342900" algn="l" rtl="0">
              <a:lnSpc>
                <a:spcPct val="100000"/>
              </a:lnSpc>
              <a:spcBef>
                <a:spcPts val="0"/>
              </a:spcBef>
              <a:spcAft>
                <a:spcPts val="0"/>
              </a:spcAft>
              <a:buSzPts val="2200"/>
              <a:buFont typeface="Times New Roman"/>
              <a:buChar char="✔"/>
            </a:pPr>
            <a:r>
              <a:rPr lang="en-GB" sz="2200">
                <a:latin typeface="Times New Roman"/>
                <a:ea typeface="Times New Roman"/>
                <a:cs typeface="Times New Roman"/>
                <a:sym typeface="Times New Roman"/>
              </a:rPr>
              <a:t>Testing and Validation</a:t>
            </a:r>
            <a:endParaRPr sz="2200">
              <a:latin typeface="Times New Roman"/>
              <a:ea typeface="Times New Roman"/>
              <a:cs typeface="Times New Roman"/>
              <a:sym typeface="Times New Roman"/>
            </a:endParaRPr>
          </a:p>
          <a:p>
            <a:pPr marL="431800" marR="0" lvl="0" indent="-342900" algn="l" rtl="0">
              <a:lnSpc>
                <a:spcPct val="100000"/>
              </a:lnSpc>
              <a:spcBef>
                <a:spcPts val="0"/>
              </a:spcBef>
              <a:spcAft>
                <a:spcPts val="0"/>
              </a:spcAft>
              <a:buSzPts val="2200"/>
              <a:buFont typeface="Times New Roman"/>
              <a:buChar char="✔"/>
            </a:pPr>
            <a:r>
              <a:rPr lang="en-GB" sz="2200">
                <a:latin typeface="Times New Roman"/>
                <a:ea typeface="Times New Roman"/>
                <a:cs typeface="Times New Roman"/>
                <a:sym typeface="Times New Roman"/>
              </a:rPr>
              <a:t>Project Plan and Time Line</a:t>
            </a:r>
            <a:endParaRPr sz="2200">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sz="2200">
              <a:latin typeface="Times New Roman"/>
              <a:ea typeface="Times New Roman"/>
              <a:cs typeface="Times New Roman"/>
              <a:sym typeface="Times New Roman"/>
            </a:endParaRPr>
          </a:p>
          <a:p>
            <a:pPr marL="88900" marR="0" lvl="0" indent="0" algn="l" rtl="0">
              <a:lnSpc>
                <a:spcPct val="100000"/>
              </a:lnSpc>
              <a:spcBef>
                <a:spcPts val="0"/>
              </a:spcBef>
              <a:spcAft>
                <a:spcPts val="0"/>
              </a:spcAft>
              <a:buNone/>
            </a:pPr>
            <a:endParaRPr sz="2200" b="0" i="0" u="none" strike="noStrike" cap="none">
              <a:solidFill>
                <a:schemeClr val="dk2"/>
              </a:solidFill>
              <a:latin typeface="Arial"/>
              <a:ea typeface="Arial"/>
              <a:cs typeface="Arial"/>
              <a:sym typeface="Arial"/>
            </a:endParaRPr>
          </a:p>
        </p:txBody>
      </p:sp>
      <p:sp>
        <p:nvSpPr>
          <p:cNvPr id="92" name="Google Shape;92;g3ae73a251e8_0_6"/>
          <p:cNvSpPr txBox="1"/>
          <p:nvPr/>
        </p:nvSpPr>
        <p:spPr>
          <a:xfrm>
            <a:off x="4108125" y="1257425"/>
            <a:ext cx="4191600" cy="1600800"/>
          </a:xfrm>
          <a:prstGeom prst="rect">
            <a:avLst/>
          </a:prstGeom>
          <a:noFill/>
          <a:ln>
            <a:noFill/>
          </a:ln>
        </p:spPr>
        <p:txBody>
          <a:bodyPr spcFirstLastPara="1" wrap="square" lIns="91425" tIns="91425" rIns="91425" bIns="91425" anchor="t" anchorCtr="0">
            <a:spAutoFit/>
          </a:bodyPr>
          <a:lstStyle/>
          <a:p>
            <a:pPr marL="431800" lvl="0" indent="-368300" algn="l" rtl="0">
              <a:spcBef>
                <a:spcPts val="0"/>
              </a:spcBef>
              <a:spcAft>
                <a:spcPts val="0"/>
              </a:spcAft>
              <a:buClr>
                <a:schemeClr val="dk1"/>
              </a:buClr>
              <a:buSzPts val="2600"/>
              <a:buFont typeface="Times New Roman"/>
              <a:buChar char="✔"/>
            </a:pPr>
            <a:r>
              <a:rPr lang="en-GB" sz="2200">
                <a:solidFill>
                  <a:schemeClr val="dk1"/>
                </a:solidFill>
                <a:latin typeface="Times New Roman"/>
                <a:ea typeface="Times New Roman"/>
                <a:cs typeface="Times New Roman"/>
                <a:sym typeface="Times New Roman"/>
              </a:rPr>
              <a:t>Remaning Work</a:t>
            </a:r>
            <a:endParaRPr sz="2200">
              <a:solidFill>
                <a:schemeClr val="dk1"/>
              </a:solidFill>
              <a:latin typeface="Times New Roman"/>
              <a:ea typeface="Times New Roman"/>
              <a:cs typeface="Times New Roman"/>
              <a:sym typeface="Times New Roman"/>
            </a:endParaRPr>
          </a:p>
          <a:p>
            <a:pPr marL="431800" lvl="0" indent="-342900" algn="l" rtl="0">
              <a:spcBef>
                <a:spcPts val="0"/>
              </a:spcBef>
              <a:spcAft>
                <a:spcPts val="0"/>
              </a:spcAft>
              <a:buClr>
                <a:schemeClr val="dk1"/>
              </a:buClr>
              <a:buSzPts val="2200"/>
              <a:buFont typeface="Times New Roman"/>
              <a:buChar char="✔"/>
            </a:pPr>
            <a:r>
              <a:rPr lang="en-GB" sz="2200">
                <a:solidFill>
                  <a:schemeClr val="dk1"/>
                </a:solidFill>
                <a:latin typeface="Times New Roman"/>
                <a:ea typeface="Times New Roman"/>
                <a:cs typeface="Times New Roman"/>
                <a:sym typeface="Times New Roman"/>
              </a:rPr>
              <a:t>Team Roles </a:t>
            </a:r>
            <a:endParaRPr sz="2200">
              <a:solidFill>
                <a:schemeClr val="dk1"/>
              </a:solidFill>
              <a:latin typeface="Times New Roman"/>
              <a:ea typeface="Times New Roman"/>
              <a:cs typeface="Times New Roman"/>
              <a:sym typeface="Times New Roman"/>
            </a:endParaRPr>
          </a:p>
          <a:p>
            <a:pPr marL="431800" lvl="0" indent="-342900" algn="l" rtl="0">
              <a:spcBef>
                <a:spcPts val="0"/>
              </a:spcBef>
              <a:spcAft>
                <a:spcPts val="0"/>
              </a:spcAft>
              <a:buClr>
                <a:schemeClr val="dk1"/>
              </a:buClr>
              <a:buSzPts val="2200"/>
              <a:buFont typeface="Times New Roman"/>
              <a:buChar char="✔"/>
            </a:pPr>
            <a:r>
              <a:rPr lang="en-GB" sz="2200">
                <a:solidFill>
                  <a:schemeClr val="dk1"/>
                </a:solidFill>
                <a:latin typeface="Times New Roman"/>
                <a:ea typeface="Times New Roman"/>
                <a:cs typeface="Times New Roman"/>
                <a:sym typeface="Times New Roman"/>
              </a:rPr>
              <a:t>Conclusion</a:t>
            </a:r>
            <a:endParaRPr sz="2200">
              <a:solidFill>
                <a:schemeClr val="dk1"/>
              </a:solidFill>
              <a:latin typeface="Times New Roman"/>
              <a:ea typeface="Times New Roman"/>
              <a:cs typeface="Times New Roman"/>
              <a:sym typeface="Times New Roman"/>
            </a:endParaRPr>
          </a:p>
          <a:p>
            <a:pPr marL="431800" lvl="0" indent="-342900" algn="l" rtl="0">
              <a:spcBef>
                <a:spcPts val="0"/>
              </a:spcBef>
              <a:spcAft>
                <a:spcPts val="0"/>
              </a:spcAft>
              <a:buClr>
                <a:schemeClr val="dk1"/>
              </a:buClr>
              <a:buSzPts val="2200"/>
              <a:buFont typeface="Times New Roman"/>
              <a:buChar char="✔"/>
            </a:pPr>
            <a:r>
              <a:rPr lang="en-GB" sz="2200">
                <a:solidFill>
                  <a:schemeClr val="dk1"/>
                </a:solidFill>
                <a:latin typeface="Times New Roman"/>
                <a:ea typeface="Times New Roman"/>
                <a:cs typeface="Times New Roman"/>
                <a:sym typeface="Times New Roman"/>
              </a:rPr>
              <a:t>References</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5</a:t>
            </a:fld>
            <a:endParaRPr/>
          </a:p>
        </p:txBody>
      </p:sp>
      <p:pic>
        <p:nvPicPr>
          <p:cNvPr id="98" name="Google Shape;98;p4" descr="logo.png"/>
          <p:cNvPicPr preferRelativeResize="0"/>
          <p:nvPr/>
        </p:nvPicPr>
        <p:blipFill rotWithShape="1">
          <a:blip r:embed="rId3">
            <a:alphaModFix/>
          </a:blip>
          <a:srcRect/>
          <a:stretch/>
        </p:blipFill>
        <p:spPr>
          <a:xfrm>
            <a:off x="201221" y="133128"/>
            <a:ext cx="928695" cy="857256"/>
          </a:xfrm>
          <a:prstGeom prst="rect">
            <a:avLst/>
          </a:prstGeom>
          <a:noFill/>
          <a:ln>
            <a:noFill/>
          </a:ln>
        </p:spPr>
      </p:pic>
      <p:sp>
        <p:nvSpPr>
          <p:cNvPr id="99" name="Google Shape;99;p4"/>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100" name="Google Shape;100;p4"/>
          <p:cNvSpPr txBox="1"/>
          <p:nvPr/>
        </p:nvSpPr>
        <p:spPr>
          <a:xfrm>
            <a:off x="1243950" y="50700"/>
            <a:ext cx="7891200" cy="10203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400"/>
              <a:buFont typeface="Arial"/>
              <a:buNone/>
            </a:pPr>
            <a:r>
              <a:rPr lang="en-GB" sz="3400">
                <a:solidFill>
                  <a:schemeClr val="lt1"/>
                </a:solidFill>
                <a:latin typeface="Merriweather"/>
                <a:ea typeface="Merriweather"/>
                <a:cs typeface="Merriweather"/>
                <a:sym typeface="Merriweather"/>
              </a:rPr>
              <a:t>ABSTRACT</a:t>
            </a:r>
            <a:endParaRPr sz="2900" b="0" i="0" u="none" strike="noStrike" cap="none">
              <a:solidFill>
                <a:schemeClr val="lt1"/>
              </a:solidFill>
              <a:latin typeface="Merriweather"/>
              <a:ea typeface="Merriweather"/>
              <a:cs typeface="Merriweather"/>
              <a:sym typeface="Merriweather"/>
            </a:endParaRPr>
          </a:p>
        </p:txBody>
      </p:sp>
      <p:sp>
        <p:nvSpPr>
          <p:cNvPr id="101" name="Google Shape;101;p4"/>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  	</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102" name="Google Shape;102;p4"/>
          <p:cNvSpPr txBox="1"/>
          <p:nvPr/>
        </p:nvSpPr>
        <p:spPr>
          <a:xfrm>
            <a:off x="110304" y="1242009"/>
            <a:ext cx="8932800" cy="3334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a:buNone/>
            </a:pPr>
            <a:r>
              <a:rPr lang="en-GB" sz="1700" b="0" i="0" u="none" strike="noStrike" cap="none">
                <a:solidFill>
                  <a:schemeClr val="dk1"/>
                </a:solidFill>
                <a:latin typeface="Times New Roman"/>
                <a:ea typeface="Times New Roman"/>
                <a:cs typeface="Times New Roman"/>
                <a:sym typeface="Times New Roman"/>
              </a:rPr>
              <a:t>Alzheimer’s disease (AD) is a leading form of dementia and is rapidly increasing worldwide. It causes brain cell death, leading to symptoms such as memory loss, difficulty with calculations, and confusion about recent events. Early detection of AD is highly beneficial for patients and their families. Electroencephalography (EEG) has emerged as a reliable biomarker for AD diagnosis. </a:t>
            </a:r>
            <a:endParaRPr/>
          </a:p>
          <a:p>
            <a:pPr marL="0" marR="0" lvl="0" indent="0" algn="l" rtl="0">
              <a:lnSpc>
                <a:spcPct val="100000"/>
              </a:lnSpc>
              <a:spcBef>
                <a:spcPts val="0"/>
              </a:spcBef>
              <a:spcAft>
                <a:spcPts val="0"/>
              </a:spcAft>
              <a:buClr>
                <a:srgbClr val="000000"/>
              </a:buClr>
              <a:buSzPts val="1700"/>
              <a:buFont typeface="Arial"/>
              <a:buNone/>
            </a:pPr>
            <a:r>
              <a:rPr lang="en-GB" sz="1700" b="0" i="0" u="none" strike="noStrike" cap="none">
                <a:solidFill>
                  <a:schemeClr val="dk1"/>
                </a:solidFill>
                <a:latin typeface="Times New Roman"/>
                <a:ea typeface="Times New Roman"/>
                <a:cs typeface="Times New Roman"/>
                <a:sym typeface="Times New Roman"/>
              </a:rPr>
              <a:t>In this work, EEG signals are preprocessed through filtering and artifact removal using Independent Component Analysis (ICA), followed by feature extraction with wavelet transform. These features are then classified using a Support Vector Machine (SVM) to distinguish AD patients from healthy individuals.</a:t>
            </a:r>
            <a:endParaRPr sz="1700" b="1"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6</a:t>
            </a:fld>
            <a:endParaRPr/>
          </a:p>
        </p:txBody>
      </p:sp>
      <p:pic>
        <p:nvPicPr>
          <p:cNvPr id="108" name="Google Shape;108;p5" descr="logo.png"/>
          <p:cNvPicPr preferRelativeResize="0"/>
          <p:nvPr/>
        </p:nvPicPr>
        <p:blipFill rotWithShape="1">
          <a:blip r:embed="rId3">
            <a:alphaModFix/>
          </a:blip>
          <a:srcRect/>
          <a:stretch/>
        </p:blipFill>
        <p:spPr>
          <a:xfrm>
            <a:off x="201221" y="133128"/>
            <a:ext cx="928695" cy="857256"/>
          </a:xfrm>
          <a:prstGeom prst="rect">
            <a:avLst/>
          </a:prstGeom>
          <a:noFill/>
          <a:ln>
            <a:noFill/>
          </a:ln>
        </p:spPr>
      </p:pic>
      <p:sp>
        <p:nvSpPr>
          <p:cNvPr id="109" name="Google Shape;109;p5"/>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110" name="Google Shape;110;p5"/>
          <p:cNvSpPr txBox="1"/>
          <p:nvPr/>
        </p:nvSpPr>
        <p:spPr>
          <a:xfrm>
            <a:off x="1243950" y="50700"/>
            <a:ext cx="7891200" cy="10203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400"/>
              <a:buFont typeface="Arial"/>
              <a:buNone/>
            </a:pPr>
            <a:r>
              <a:rPr lang="en-GB" sz="3400">
                <a:solidFill>
                  <a:schemeClr val="lt1"/>
                </a:solidFill>
                <a:latin typeface="Merriweather"/>
                <a:ea typeface="Merriweather"/>
                <a:cs typeface="Merriweather"/>
                <a:sym typeface="Merriweather"/>
              </a:rPr>
              <a:t>MOTIVATION </a:t>
            </a:r>
            <a:endParaRPr sz="2900" b="0" i="0" u="none" strike="noStrike" cap="none">
              <a:solidFill>
                <a:schemeClr val="lt1"/>
              </a:solidFill>
              <a:latin typeface="Merriweather"/>
              <a:ea typeface="Merriweather"/>
              <a:cs typeface="Merriweather"/>
              <a:sym typeface="Merriweather"/>
            </a:endParaRPr>
          </a:p>
        </p:txBody>
      </p:sp>
      <p:sp>
        <p:nvSpPr>
          <p:cNvPr id="111" name="Google Shape;111;p5"/>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112" name="Google Shape;112;p5"/>
          <p:cNvSpPr txBox="1"/>
          <p:nvPr/>
        </p:nvSpPr>
        <p:spPr>
          <a:xfrm>
            <a:off x="169625" y="1159550"/>
            <a:ext cx="8932800" cy="3334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Times New Roman"/>
                <a:ea typeface="Times New Roman"/>
                <a:cs typeface="Times New Roman"/>
                <a:sym typeface="Times New Roman"/>
              </a:rPr>
              <a:t>Alzheimer’s disease (AD) is ranked as the sixth leading cause of death in the United States and is considered a chronic neurodegenerative disorder caused by the death of brain cells. It is most prevalent among people aged sixty-five and above, and its prevalence is expected to increase significantly in the coming years. The disease is progressive and classified into three stages: mild, moderate, and severe. The mild stage, also known as Mild Cognitive Impairment (MCI), is marked by short-term memory loss, difficulty in calculations, and forgetting names or recent events. In the moderate stage, patients experience severe memory loss, an inability to handle simple tasks, language difficulties, and confusion about time and place. The severe stage leaves the patient completely dependent, with loss of speech, difficulty walking, and an inability to recognize even close family members.</a:t>
            </a:r>
            <a:endParaRPr sz="18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7</a:t>
            </a:fld>
            <a:endParaRPr/>
          </a:p>
        </p:txBody>
      </p:sp>
      <p:pic>
        <p:nvPicPr>
          <p:cNvPr id="118" name="Google Shape;118;p6" descr="logo.png"/>
          <p:cNvPicPr preferRelativeResize="0"/>
          <p:nvPr/>
        </p:nvPicPr>
        <p:blipFill rotWithShape="1">
          <a:blip r:embed="rId3">
            <a:alphaModFix/>
          </a:blip>
          <a:srcRect/>
          <a:stretch/>
        </p:blipFill>
        <p:spPr>
          <a:xfrm>
            <a:off x="201221" y="133128"/>
            <a:ext cx="928695" cy="857256"/>
          </a:xfrm>
          <a:prstGeom prst="rect">
            <a:avLst/>
          </a:prstGeom>
          <a:noFill/>
          <a:ln>
            <a:noFill/>
          </a:ln>
        </p:spPr>
      </p:pic>
      <p:sp>
        <p:nvSpPr>
          <p:cNvPr id="119" name="Google Shape;119;p6"/>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120" name="Google Shape;120;p6"/>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marR="0" lvl="1" indent="0" algn="ctr" rtl="0">
              <a:lnSpc>
                <a:spcPct val="100000"/>
              </a:lnSpc>
              <a:spcBef>
                <a:spcPts val="0"/>
              </a:spcBef>
              <a:spcAft>
                <a:spcPts val="0"/>
              </a:spcAft>
              <a:buNone/>
            </a:pPr>
            <a:r>
              <a:rPr lang="en-GB" sz="3000">
                <a:solidFill>
                  <a:schemeClr val="lt1"/>
                </a:solidFill>
                <a:latin typeface="Merriweather"/>
                <a:ea typeface="Merriweather"/>
                <a:cs typeface="Merriweather"/>
                <a:sym typeface="Merriweather"/>
              </a:rPr>
              <a:t>BACKGROUND</a:t>
            </a:r>
            <a:endParaRPr sz="2500" b="0" i="0" u="none" strike="noStrike" cap="none">
              <a:solidFill>
                <a:schemeClr val="lt1"/>
              </a:solidFill>
              <a:latin typeface="Merriweather"/>
              <a:ea typeface="Merriweather"/>
              <a:cs typeface="Merriweather"/>
              <a:sym typeface="Merriweather"/>
            </a:endParaRPr>
          </a:p>
        </p:txBody>
      </p:sp>
      <p:sp>
        <p:nvSpPr>
          <p:cNvPr id="121" name="Google Shape;121;p6"/>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122" name="Google Shape;122;p6"/>
          <p:cNvSpPr txBox="1"/>
          <p:nvPr/>
        </p:nvSpPr>
        <p:spPr>
          <a:xfrm>
            <a:off x="149375" y="1117250"/>
            <a:ext cx="8796900" cy="3419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2"/>
                </a:solidFill>
                <a:latin typeface="Arial"/>
                <a:ea typeface="Arial"/>
                <a:cs typeface="Arial"/>
                <a:sym typeface="Arial"/>
              </a:rPr>
              <a:t> </a:t>
            </a: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Times New Roman"/>
                <a:ea typeface="Times New Roman"/>
                <a:cs typeface="Times New Roman"/>
                <a:sym typeface="Times New Roman"/>
              </a:rPr>
              <a:t>Currently, there is no permanent treatment for Alzheimer’s disease. However, early detection can help patients and families prepare for the future. Several diagnostic methods exist, such as Mini-Mental State Examination (MMSE), Clinical Dementia Rating (CDR), Positron Emission Tomography (PET), Single Photon Emission Computed Tomography (SPECT), Magnetic Resonance Imaging (MRI), and EEG. Among these, PET and SPECT involve radiation risks, while MRI is costly, making EEG a safer and more effective choice for diagnosis. Despite its effectiveness, EEG signals often contain noise and artifacts such as eye blinks and power interference, which must be removed before reliable diagnosis can be performed.</a:t>
            </a:r>
            <a:endParaRPr sz="18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g3ae73a251e8_0_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8</a:t>
            </a:fld>
            <a:endParaRPr/>
          </a:p>
        </p:txBody>
      </p:sp>
      <p:pic>
        <p:nvPicPr>
          <p:cNvPr id="128" name="Google Shape;128;g3ae73a251e8_0_17" descr="logo.png"/>
          <p:cNvPicPr preferRelativeResize="0"/>
          <p:nvPr/>
        </p:nvPicPr>
        <p:blipFill rotWithShape="1">
          <a:blip r:embed="rId3">
            <a:alphaModFix/>
          </a:blip>
          <a:srcRect/>
          <a:stretch/>
        </p:blipFill>
        <p:spPr>
          <a:xfrm>
            <a:off x="201221" y="133128"/>
            <a:ext cx="928695" cy="857256"/>
          </a:xfrm>
          <a:prstGeom prst="rect">
            <a:avLst/>
          </a:prstGeom>
          <a:noFill/>
          <a:ln>
            <a:noFill/>
          </a:ln>
        </p:spPr>
      </p:pic>
      <p:sp>
        <p:nvSpPr>
          <p:cNvPr id="129" name="Google Shape;129;g3ae73a251e8_0_17"/>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130" name="Google Shape;130;g3ae73a251e8_0_17"/>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marR="0" lvl="1" indent="0" algn="ctr" rtl="0">
              <a:lnSpc>
                <a:spcPct val="100000"/>
              </a:lnSpc>
              <a:spcBef>
                <a:spcPts val="0"/>
              </a:spcBef>
              <a:spcAft>
                <a:spcPts val="0"/>
              </a:spcAft>
              <a:buNone/>
            </a:pPr>
            <a:r>
              <a:rPr lang="en-GB" sz="3000">
                <a:solidFill>
                  <a:schemeClr val="lt1"/>
                </a:solidFill>
                <a:latin typeface="Merriweather"/>
                <a:ea typeface="Merriweather"/>
                <a:cs typeface="Merriweather"/>
                <a:sym typeface="Merriweather"/>
              </a:rPr>
              <a:t>OBJECTIVES</a:t>
            </a:r>
            <a:endParaRPr sz="2500" b="0" i="0" u="none" strike="noStrike" cap="none">
              <a:solidFill>
                <a:schemeClr val="lt1"/>
              </a:solidFill>
              <a:latin typeface="Merriweather"/>
              <a:ea typeface="Merriweather"/>
              <a:cs typeface="Merriweather"/>
              <a:sym typeface="Merriweather"/>
            </a:endParaRPr>
          </a:p>
        </p:txBody>
      </p:sp>
      <p:sp>
        <p:nvSpPr>
          <p:cNvPr id="131" name="Google Shape;131;g3ae73a251e8_0_17"/>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132" name="Google Shape;132;g3ae73a251e8_0_17"/>
          <p:cNvSpPr txBox="1"/>
          <p:nvPr/>
        </p:nvSpPr>
        <p:spPr>
          <a:xfrm>
            <a:off x="149375" y="1117250"/>
            <a:ext cx="8796900" cy="3419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2"/>
                </a:solidFill>
                <a:latin typeface="Arial"/>
                <a:ea typeface="Arial"/>
                <a:cs typeface="Arial"/>
                <a:sym typeface="Arial"/>
              </a:rPr>
              <a:t> </a:t>
            </a: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a:p>
            <a:pPr marL="457200" marR="0" lvl="0" indent="-368300" algn="l" rtl="0">
              <a:lnSpc>
                <a:spcPct val="100000"/>
              </a:lnSpc>
              <a:spcBef>
                <a:spcPts val="0"/>
              </a:spcBef>
              <a:spcAft>
                <a:spcPts val="0"/>
              </a:spcAft>
              <a:buClr>
                <a:schemeClr val="dk1"/>
              </a:buClr>
              <a:buSzPts val="2200"/>
              <a:buFont typeface="Times New Roman"/>
              <a:buChar char="●"/>
            </a:pPr>
            <a:r>
              <a:rPr lang="en-GB" sz="2200">
                <a:solidFill>
                  <a:schemeClr val="dk1"/>
                </a:solidFill>
                <a:latin typeface="Times New Roman"/>
                <a:ea typeface="Times New Roman"/>
                <a:cs typeface="Times New Roman"/>
                <a:sym typeface="Times New Roman"/>
              </a:rPr>
              <a:t>Early stage detection of Neurological Disorders which can help to identify in primary effects and also take care proper diagnoses .</a:t>
            </a:r>
            <a:endParaRPr sz="2200">
              <a:solidFill>
                <a:schemeClr val="dk1"/>
              </a:solidFill>
              <a:latin typeface="Times New Roman"/>
              <a:ea typeface="Times New Roman"/>
              <a:cs typeface="Times New Roman"/>
              <a:sym typeface="Times New Roman"/>
            </a:endParaRPr>
          </a:p>
          <a:p>
            <a:pPr marL="457200" marR="0" lvl="0" indent="-368300" algn="l" rtl="0">
              <a:lnSpc>
                <a:spcPct val="100000"/>
              </a:lnSpc>
              <a:spcBef>
                <a:spcPts val="0"/>
              </a:spcBef>
              <a:spcAft>
                <a:spcPts val="0"/>
              </a:spcAft>
              <a:buClr>
                <a:schemeClr val="dk1"/>
              </a:buClr>
              <a:buSzPts val="2200"/>
              <a:buFont typeface="Times New Roman"/>
              <a:buChar char="●"/>
            </a:pPr>
            <a:r>
              <a:rPr lang="en-GB" sz="2200">
                <a:solidFill>
                  <a:schemeClr val="dk1"/>
                </a:solidFill>
                <a:latin typeface="Times New Roman"/>
                <a:ea typeface="Times New Roman"/>
                <a:cs typeface="Times New Roman"/>
                <a:sym typeface="Times New Roman"/>
              </a:rPr>
              <a:t>Expected to achieve maximum accuracy in detecting AD from the Electroencephalography(EEG) scan or graphs.</a:t>
            </a:r>
            <a:endParaRPr sz="2200">
              <a:solidFill>
                <a:schemeClr val="dk1"/>
              </a:solidFill>
              <a:latin typeface="Times New Roman"/>
              <a:ea typeface="Times New Roman"/>
              <a:cs typeface="Times New Roman"/>
              <a:sym typeface="Times New Roman"/>
            </a:endParaRPr>
          </a:p>
          <a:p>
            <a:pPr marL="457200" marR="0" lvl="0" indent="-368300" algn="l" rtl="0">
              <a:lnSpc>
                <a:spcPct val="100000"/>
              </a:lnSpc>
              <a:spcBef>
                <a:spcPts val="0"/>
              </a:spcBef>
              <a:spcAft>
                <a:spcPts val="0"/>
              </a:spcAft>
              <a:buClr>
                <a:schemeClr val="dk1"/>
              </a:buClr>
              <a:buSzPts val="2200"/>
              <a:buFont typeface="Times New Roman"/>
              <a:buChar char="●"/>
            </a:pPr>
            <a:r>
              <a:rPr lang="en-GB" sz="2200">
                <a:solidFill>
                  <a:schemeClr val="dk1"/>
                </a:solidFill>
                <a:latin typeface="Times New Roman"/>
                <a:ea typeface="Times New Roman"/>
                <a:cs typeface="Times New Roman"/>
                <a:sym typeface="Times New Roman"/>
              </a:rPr>
              <a:t>Develop user Interactive Pages (UI) to make the ease of accessibility with the assistance of deep learning models and graphs to depict the </a:t>
            </a:r>
            <a:br>
              <a:rPr lang="en-GB" sz="2200">
                <a:solidFill>
                  <a:schemeClr val="dk1"/>
                </a:solidFill>
                <a:latin typeface="Times New Roman"/>
                <a:ea typeface="Times New Roman"/>
                <a:cs typeface="Times New Roman"/>
                <a:sym typeface="Times New Roman"/>
              </a:rPr>
            </a:br>
            <a:r>
              <a:rPr lang="en-GB" sz="2200">
                <a:solidFill>
                  <a:schemeClr val="dk1"/>
                </a:solidFill>
                <a:latin typeface="Times New Roman"/>
                <a:ea typeface="Times New Roman"/>
                <a:cs typeface="Times New Roman"/>
                <a:sym typeface="Times New Roman"/>
              </a:rPr>
              <a:t>output .</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3ae73a251e8_0_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9</a:t>
            </a:fld>
            <a:endParaRPr/>
          </a:p>
        </p:txBody>
      </p:sp>
      <p:pic>
        <p:nvPicPr>
          <p:cNvPr id="138" name="Google Shape;138;g3ae73a251e8_0_26" descr="logo.png"/>
          <p:cNvPicPr preferRelativeResize="0"/>
          <p:nvPr/>
        </p:nvPicPr>
        <p:blipFill rotWithShape="1">
          <a:blip r:embed="rId3">
            <a:alphaModFix/>
          </a:blip>
          <a:srcRect/>
          <a:stretch/>
        </p:blipFill>
        <p:spPr>
          <a:xfrm>
            <a:off x="201221" y="133128"/>
            <a:ext cx="928695" cy="857256"/>
          </a:xfrm>
          <a:prstGeom prst="rect">
            <a:avLst/>
          </a:prstGeom>
          <a:noFill/>
          <a:ln>
            <a:noFill/>
          </a:ln>
        </p:spPr>
      </p:pic>
      <p:sp>
        <p:nvSpPr>
          <p:cNvPr id="139" name="Google Shape;139;g3ae73a251e8_0_26"/>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140" name="Google Shape;140;g3ae73a251e8_0_26"/>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marR="0" lvl="1" indent="0" algn="ctr" rtl="0">
              <a:lnSpc>
                <a:spcPct val="100000"/>
              </a:lnSpc>
              <a:spcBef>
                <a:spcPts val="0"/>
              </a:spcBef>
              <a:spcAft>
                <a:spcPts val="0"/>
              </a:spcAft>
              <a:buNone/>
            </a:pPr>
            <a:r>
              <a:rPr lang="en-GB" sz="3000">
                <a:solidFill>
                  <a:schemeClr val="lt1"/>
                </a:solidFill>
                <a:latin typeface="Merriweather"/>
                <a:ea typeface="Merriweather"/>
                <a:cs typeface="Merriweather"/>
                <a:sym typeface="Merriweather"/>
              </a:rPr>
              <a:t>SCOPE &amp; LIMITATIONS</a:t>
            </a:r>
            <a:endParaRPr sz="2500" b="0" i="0" u="none" strike="noStrike" cap="none">
              <a:solidFill>
                <a:schemeClr val="lt1"/>
              </a:solidFill>
              <a:latin typeface="Merriweather"/>
              <a:ea typeface="Merriweather"/>
              <a:cs typeface="Merriweather"/>
              <a:sym typeface="Merriweather"/>
            </a:endParaRPr>
          </a:p>
        </p:txBody>
      </p:sp>
      <p:sp>
        <p:nvSpPr>
          <p:cNvPr id="141" name="Google Shape;141;g3ae73a251e8_0_26"/>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142" name="Google Shape;142;g3ae73a251e8_0_26"/>
          <p:cNvSpPr txBox="1"/>
          <p:nvPr/>
        </p:nvSpPr>
        <p:spPr>
          <a:xfrm>
            <a:off x="149375" y="1117250"/>
            <a:ext cx="8796900" cy="3419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GB" sz="2200" b="1" u="sng">
                <a:solidFill>
                  <a:schemeClr val="dk2"/>
                </a:solidFill>
                <a:latin typeface="Times New Roman"/>
                <a:ea typeface="Times New Roman"/>
                <a:cs typeface="Times New Roman"/>
                <a:sym typeface="Times New Roman"/>
              </a:rPr>
              <a:t>Scope</a:t>
            </a:r>
            <a:r>
              <a:rPr lang="en-GB" sz="2200" u="sng">
                <a:solidFill>
                  <a:schemeClr val="dk2"/>
                </a:solidFill>
                <a:latin typeface="Times New Roman"/>
                <a:ea typeface="Times New Roman"/>
                <a:cs typeface="Times New Roman"/>
                <a:sym typeface="Times New Roman"/>
              </a:rPr>
              <a:t>:</a:t>
            </a:r>
            <a:endParaRPr sz="2200" u="sng">
              <a:solidFill>
                <a:schemeClr val="dk2"/>
              </a:solidFill>
              <a:latin typeface="Times New Roman"/>
              <a:ea typeface="Times New Roman"/>
              <a:cs typeface="Times New Roman"/>
              <a:sym typeface="Times New Roman"/>
            </a:endParaRPr>
          </a:p>
          <a:p>
            <a:pPr marL="914400" marR="0" lvl="0" indent="0" algn="l" rtl="0">
              <a:lnSpc>
                <a:spcPct val="100000"/>
              </a:lnSpc>
              <a:spcBef>
                <a:spcPts val="0"/>
              </a:spcBef>
              <a:spcAft>
                <a:spcPts val="0"/>
              </a:spcAft>
              <a:buNone/>
            </a:pPr>
            <a:r>
              <a:rPr lang="en-GB" sz="2200">
                <a:solidFill>
                  <a:schemeClr val="dk2"/>
                </a:solidFill>
                <a:latin typeface="Times New Roman"/>
                <a:ea typeface="Times New Roman"/>
                <a:cs typeface="Times New Roman"/>
                <a:sym typeface="Times New Roman"/>
              </a:rPr>
              <a:t>Training of deep learning models with ds004504 dataset obtained from open Neuro consisting of 88 subjects , each having 25 features corresponding diseases to reach effective predictions.</a:t>
            </a:r>
            <a:endParaRPr sz="2200">
              <a:solidFill>
                <a:schemeClr val="dk2"/>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GB" sz="2200" b="1" u="sng">
                <a:solidFill>
                  <a:schemeClr val="dk2"/>
                </a:solidFill>
                <a:latin typeface="Times New Roman"/>
                <a:ea typeface="Times New Roman"/>
                <a:cs typeface="Times New Roman"/>
                <a:sym typeface="Times New Roman"/>
              </a:rPr>
              <a:t>Limitations</a:t>
            </a:r>
            <a:r>
              <a:rPr lang="en-GB" sz="2200">
                <a:solidFill>
                  <a:schemeClr val="dk2"/>
                </a:solidFill>
                <a:latin typeface="Times New Roman"/>
                <a:ea typeface="Times New Roman"/>
                <a:cs typeface="Times New Roman"/>
                <a:sym typeface="Times New Roman"/>
              </a:rPr>
              <a:t>:</a:t>
            </a:r>
            <a:endParaRPr sz="2200" u="sng">
              <a:solidFill>
                <a:schemeClr val="dk2"/>
              </a:solidFill>
              <a:latin typeface="Times New Roman"/>
              <a:ea typeface="Times New Roman"/>
              <a:cs typeface="Times New Roman"/>
              <a:sym typeface="Times New Roman"/>
            </a:endParaRPr>
          </a:p>
          <a:p>
            <a:pPr marL="457200" marR="0" lvl="0" indent="-368300" algn="l" rtl="0">
              <a:lnSpc>
                <a:spcPct val="100000"/>
              </a:lnSpc>
              <a:spcBef>
                <a:spcPts val="0"/>
              </a:spcBef>
              <a:spcAft>
                <a:spcPts val="0"/>
              </a:spcAft>
              <a:buClr>
                <a:schemeClr val="dk2"/>
              </a:buClr>
              <a:buSzPts val="2200"/>
              <a:buFont typeface="Times New Roman"/>
              <a:buChar char="●"/>
            </a:pPr>
            <a:r>
              <a:rPr lang="en-GB" sz="2200">
                <a:solidFill>
                  <a:schemeClr val="dk2"/>
                </a:solidFill>
                <a:latin typeface="Times New Roman"/>
                <a:ea typeface="Times New Roman"/>
                <a:cs typeface="Times New Roman"/>
                <a:sym typeface="Times New Roman"/>
              </a:rPr>
              <a:t>Inadequate data set , the above dataset obtained is the minimal in size.</a:t>
            </a:r>
            <a:endParaRPr sz="2200">
              <a:solidFill>
                <a:schemeClr val="dk2"/>
              </a:solidFill>
              <a:latin typeface="Times New Roman"/>
              <a:ea typeface="Times New Roman"/>
              <a:cs typeface="Times New Roman"/>
              <a:sym typeface="Times New Roman"/>
            </a:endParaRPr>
          </a:p>
          <a:p>
            <a:pPr marL="457200" marR="0" lvl="0" indent="-368300" algn="l" rtl="0">
              <a:lnSpc>
                <a:spcPct val="100000"/>
              </a:lnSpc>
              <a:spcBef>
                <a:spcPts val="0"/>
              </a:spcBef>
              <a:spcAft>
                <a:spcPts val="0"/>
              </a:spcAft>
              <a:buClr>
                <a:schemeClr val="dk2"/>
              </a:buClr>
              <a:buSzPts val="2200"/>
              <a:buFont typeface="Times New Roman"/>
              <a:buChar char="●"/>
            </a:pPr>
            <a:r>
              <a:rPr lang="en-GB" sz="2200">
                <a:solidFill>
                  <a:schemeClr val="dk2"/>
                </a:solidFill>
                <a:latin typeface="Times New Roman"/>
                <a:ea typeface="Times New Roman"/>
                <a:cs typeface="Times New Roman"/>
                <a:sym typeface="Times New Roman"/>
              </a:rPr>
              <a:t>Ineffective processing and depends on linear models which makes the output </a:t>
            </a:r>
            <a:br>
              <a:rPr lang="en-GB" sz="2200">
                <a:solidFill>
                  <a:schemeClr val="dk2"/>
                </a:solidFill>
                <a:latin typeface="Times New Roman"/>
                <a:ea typeface="Times New Roman"/>
                <a:cs typeface="Times New Roman"/>
                <a:sym typeface="Times New Roman"/>
              </a:rPr>
            </a:br>
            <a:r>
              <a:rPr lang="en-GB" sz="2200">
                <a:solidFill>
                  <a:schemeClr val="dk2"/>
                </a:solidFill>
                <a:latin typeface="Times New Roman"/>
                <a:ea typeface="Times New Roman"/>
                <a:cs typeface="Times New Roman"/>
                <a:sym typeface="Times New Roman"/>
              </a:rPr>
              <a:t>Inaccurate and ambigious to handle or understand.</a:t>
            </a:r>
            <a:endParaRPr sz="2200">
              <a:solidFill>
                <a:schemeClr val="dk2"/>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381534ec281_0_55"/>
          <p:cNvSpPr/>
          <p:nvPr/>
        </p:nvSpPr>
        <p:spPr>
          <a:xfrm>
            <a:off x="1214414" y="11130"/>
            <a:ext cx="7715400" cy="631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a:buNone/>
            </a:pPr>
            <a:r>
              <a:rPr lang="en-GB" sz="3600" b="1" i="0" u="none" strike="noStrike" cap="none">
                <a:solidFill>
                  <a:schemeClr val="lt1"/>
                </a:solidFill>
                <a:latin typeface="Calibri"/>
                <a:ea typeface="Calibri"/>
                <a:cs typeface="Calibri"/>
                <a:sym typeface="Calibri"/>
              </a:rPr>
              <a:t>LITERATURE SURVEY</a:t>
            </a:r>
            <a:endParaRPr sz="1400" b="0" i="0" u="none" strike="noStrike" cap="none">
              <a:solidFill>
                <a:srgbClr val="000000"/>
              </a:solidFill>
              <a:latin typeface="Arial"/>
              <a:ea typeface="Arial"/>
              <a:cs typeface="Arial"/>
              <a:sym typeface="Arial"/>
            </a:endParaRPr>
          </a:p>
        </p:txBody>
      </p:sp>
      <p:sp>
        <p:nvSpPr>
          <p:cNvPr id="148" name="Google Shape;148;g381534ec281_0_55"/>
          <p:cNvSpPr/>
          <p:nvPr/>
        </p:nvSpPr>
        <p:spPr>
          <a:xfrm>
            <a:off x="0" y="4929204"/>
            <a:ext cx="9144000" cy="2142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49" name="Google Shape;149;g381534ec281_0_55"/>
          <p:cNvPicPr preferRelativeResize="0"/>
          <p:nvPr/>
        </p:nvPicPr>
        <p:blipFill rotWithShape="1">
          <a:blip r:embed="rId3">
            <a:alphaModFix/>
          </a:blip>
          <a:srcRect/>
          <a:stretch/>
        </p:blipFill>
        <p:spPr>
          <a:xfrm>
            <a:off x="201538" y="0"/>
            <a:ext cx="652500" cy="642924"/>
          </a:xfrm>
          <a:prstGeom prst="rect">
            <a:avLst/>
          </a:prstGeom>
          <a:noFill/>
          <a:ln>
            <a:noFill/>
          </a:ln>
        </p:spPr>
      </p:pic>
      <p:sp>
        <p:nvSpPr>
          <p:cNvPr id="150" name="Google Shape;150;g381534ec281_0_55"/>
          <p:cNvSpPr txBox="1"/>
          <p:nvPr/>
        </p:nvSpPr>
        <p:spPr>
          <a:xfrm>
            <a:off x="142844" y="4929204"/>
            <a:ext cx="2133600" cy="219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GB" sz="1800" b="1" i="0" u="none" strike="noStrike" cap="none">
                <a:solidFill>
                  <a:schemeClr val="lt1"/>
                </a:solidFill>
                <a:latin typeface="Calibri"/>
                <a:ea typeface="Calibri"/>
                <a:cs typeface="Calibri"/>
                <a:sym typeface="Calibri"/>
              </a:rPr>
              <a:t>24/12/2022</a:t>
            </a:r>
            <a:endParaRPr sz="1400" b="0" i="0" u="none" strike="noStrike" cap="none">
              <a:solidFill>
                <a:srgbClr val="000000"/>
              </a:solidFill>
              <a:latin typeface="Arial"/>
              <a:ea typeface="Arial"/>
              <a:cs typeface="Arial"/>
              <a:sym typeface="Arial"/>
            </a:endParaRPr>
          </a:p>
        </p:txBody>
      </p:sp>
      <p:sp>
        <p:nvSpPr>
          <p:cNvPr id="151" name="Google Shape;151;g381534ec281_0_55"/>
          <p:cNvSpPr txBox="1"/>
          <p:nvPr/>
        </p:nvSpPr>
        <p:spPr>
          <a:xfrm>
            <a:off x="6724680" y="4875626"/>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GB" sz="1800" b="1" i="0" u="none" strike="noStrike" cap="none">
                <a:solidFill>
                  <a:schemeClr val="lt1"/>
                </a:solidFill>
                <a:latin typeface="Calibri"/>
                <a:ea typeface="Calibri"/>
                <a:cs typeface="Calibri"/>
                <a:sym typeface="Calibri"/>
              </a:rPr>
              <a:t>10</a:t>
            </a:fld>
            <a:endParaRPr sz="1800" b="1" i="0" u="none" strike="noStrike" cap="none">
              <a:solidFill>
                <a:schemeClr val="lt1"/>
              </a:solidFill>
              <a:latin typeface="Calibri"/>
              <a:ea typeface="Calibri"/>
              <a:cs typeface="Calibri"/>
              <a:sym typeface="Calibri"/>
            </a:endParaRPr>
          </a:p>
        </p:txBody>
      </p:sp>
      <p:sp>
        <p:nvSpPr>
          <p:cNvPr id="152" name="Google Shape;152;g381534ec281_0_55"/>
          <p:cNvSpPr txBox="1"/>
          <p:nvPr/>
        </p:nvSpPr>
        <p:spPr>
          <a:xfrm>
            <a:off x="1928794" y="4875626"/>
            <a:ext cx="50007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1" i="0" u="none" strike="noStrike" cap="none">
                <a:solidFill>
                  <a:schemeClr val="lt1"/>
                </a:solidFill>
                <a:latin typeface="Calibri"/>
                <a:ea typeface="Calibri"/>
                <a:cs typeface="Calibri"/>
                <a:sym typeface="Calibri"/>
              </a:rPr>
              <a:t>Department of Computer Science &amp; Engineering</a:t>
            </a:r>
            <a:endParaRPr sz="1800" b="1" i="0" u="none" strike="noStrike" cap="none">
              <a:solidFill>
                <a:schemeClr val="lt1"/>
              </a:solidFill>
              <a:latin typeface="Calibri"/>
              <a:ea typeface="Calibri"/>
              <a:cs typeface="Calibri"/>
              <a:sym typeface="Calibri"/>
            </a:endParaRPr>
          </a:p>
        </p:txBody>
      </p:sp>
      <p:graphicFrame>
        <p:nvGraphicFramePr>
          <p:cNvPr id="153" name="Google Shape;153;g381534ec281_0_55"/>
          <p:cNvGraphicFramePr/>
          <p:nvPr/>
        </p:nvGraphicFramePr>
        <p:xfrm>
          <a:off x="397850" y="774133"/>
          <a:ext cx="8531975" cy="3897525"/>
        </p:xfrm>
        <a:graphic>
          <a:graphicData uri="http://schemas.openxmlformats.org/drawingml/2006/table">
            <a:tbl>
              <a:tblPr>
                <a:noFill/>
                <a:tableStyleId>{5C467FC6-CA59-4B7A-9D0F-6C8D04829015}</a:tableStyleId>
              </a:tblPr>
              <a:tblGrid>
                <a:gridCol w="541450">
                  <a:extLst>
                    <a:ext uri="{9D8B030D-6E8A-4147-A177-3AD203B41FA5}">
                      <a16:colId xmlns:a16="http://schemas.microsoft.com/office/drawing/2014/main" val="20000"/>
                    </a:ext>
                  </a:extLst>
                </a:gridCol>
                <a:gridCol w="1516850">
                  <a:extLst>
                    <a:ext uri="{9D8B030D-6E8A-4147-A177-3AD203B41FA5}">
                      <a16:colId xmlns:a16="http://schemas.microsoft.com/office/drawing/2014/main" val="20001"/>
                    </a:ext>
                  </a:extLst>
                </a:gridCol>
                <a:gridCol w="2115850">
                  <a:extLst>
                    <a:ext uri="{9D8B030D-6E8A-4147-A177-3AD203B41FA5}">
                      <a16:colId xmlns:a16="http://schemas.microsoft.com/office/drawing/2014/main" val="20002"/>
                    </a:ext>
                  </a:extLst>
                </a:gridCol>
                <a:gridCol w="1604450">
                  <a:extLst>
                    <a:ext uri="{9D8B030D-6E8A-4147-A177-3AD203B41FA5}">
                      <a16:colId xmlns:a16="http://schemas.microsoft.com/office/drawing/2014/main" val="20003"/>
                    </a:ext>
                  </a:extLst>
                </a:gridCol>
                <a:gridCol w="2753375">
                  <a:extLst>
                    <a:ext uri="{9D8B030D-6E8A-4147-A177-3AD203B41FA5}">
                      <a16:colId xmlns:a16="http://schemas.microsoft.com/office/drawing/2014/main" val="20004"/>
                    </a:ext>
                  </a:extLst>
                </a:gridCol>
              </a:tblGrid>
              <a:tr h="861325">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t>S.No</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t>Paper Title</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solidFill>
                            <a:schemeClr val="dk1"/>
                          </a:solidFill>
                        </a:rPr>
                        <a:t>Methodology</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solidFill>
                            <a:schemeClr val="dk1"/>
                          </a:solidFill>
                        </a:rPr>
                        <a:t>Drawbacks</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t>Proposed Methodology to overcome those drawbacks</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extLst>
                  <a:ext uri="{0D108BD9-81ED-4DB2-BD59-A6C34878D82A}">
                    <a16:rowId xmlns:a16="http://schemas.microsoft.com/office/drawing/2014/main" val="10000"/>
                  </a:ext>
                </a:extLst>
              </a:tr>
              <a:tr h="3036200">
                <a:tc>
                  <a:txBody>
                    <a:bodyPr/>
                    <a:lstStyle/>
                    <a:p>
                      <a:pPr marL="0" marR="533400" lvl="0" indent="0" algn="just" rtl="0">
                        <a:lnSpc>
                          <a:spcPct val="100000"/>
                        </a:lnSpc>
                        <a:spcBef>
                          <a:spcPts val="0"/>
                        </a:spcBef>
                        <a:spcAft>
                          <a:spcPts val="0"/>
                        </a:spcAft>
                        <a:buClr>
                          <a:srgbClr val="000000"/>
                        </a:buClr>
                        <a:buSzPts val="1100"/>
                        <a:buFont typeface="Arial"/>
                        <a:buNone/>
                      </a:pPr>
                      <a:r>
                        <a:rPr lang="en-GB" sz="1300" u="none" strike="noStrike" cap="none"/>
                        <a:t>1.</a:t>
                      </a:r>
                      <a:endParaRPr sz="1300" u="none" strike="noStrike" cap="none"/>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just" rtl="0">
                        <a:lnSpc>
                          <a:spcPct val="150000"/>
                        </a:lnSpc>
                        <a:spcBef>
                          <a:spcPts val="0"/>
                        </a:spcBef>
                        <a:spcAft>
                          <a:spcPts val="0"/>
                        </a:spcAft>
                        <a:buClr>
                          <a:schemeClr val="dk1"/>
                        </a:buClr>
                        <a:buSzPts val="1500"/>
                        <a:buFont typeface="Arial"/>
                        <a:buNone/>
                      </a:pPr>
                      <a:r>
                        <a:rPr lang="en-GB" sz="1500">
                          <a:latin typeface="Times New Roman"/>
                          <a:ea typeface="Times New Roman"/>
                          <a:cs typeface="Times New Roman"/>
                          <a:sym typeface="Times New Roman"/>
                        </a:rPr>
                        <a:t>Detection of Alzheimer’s Disease with Shape Analysis of MRI Images</a:t>
                      </a:r>
                      <a:endParaRPr sz="1500" u="none" strike="noStrike" cap="none">
                        <a:latin typeface="Times New Roman"/>
                        <a:ea typeface="Times New Roman"/>
                        <a:cs typeface="Times New Roman"/>
                        <a:sym typeface="Times New Roman"/>
                      </a:endParaRPr>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lvl="0" indent="0" algn="just" rtl="0">
                        <a:lnSpc>
                          <a:spcPct val="150000"/>
                        </a:lnSpc>
                        <a:spcBef>
                          <a:spcPts val="0"/>
                        </a:spcBef>
                        <a:spcAft>
                          <a:spcPts val="0"/>
                        </a:spcAft>
                        <a:buClr>
                          <a:schemeClr val="dk1"/>
                        </a:buClr>
                        <a:buSzPts val="1100"/>
                        <a:buFont typeface="Arial"/>
                        <a:buNone/>
                      </a:pPr>
                      <a:r>
                        <a:rPr lang="en-GB" sz="1500">
                          <a:latin typeface="Times New Roman"/>
                          <a:ea typeface="Times New Roman"/>
                          <a:cs typeface="Times New Roman"/>
                          <a:sym typeface="Times New Roman"/>
                        </a:rPr>
                        <a:t> The process involves image segmentation, extraction of brain regions with reslicing, and contour detection, followed by feature extraction through P-type Fourier descriptors.</a:t>
                      </a:r>
                      <a:endParaRPr sz="1500">
                        <a:latin typeface="Times New Roman"/>
                        <a:ea typeface="Times New Roman"/>
                        <a:cs typeface="Times New Roman"/>
                        <a:sym typeface="Times New Roman"/>
                      </a:endParaRPr>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just" rtl="0">
                        <a:lnSpc>
                          <a:spcPct val="150000"/>
                        </a:lnSpc>
                        <a:spcBef>
                          <a:spcPts val="0"/>
                        </a:spcBef>
                        <a:spcAft>
                          <a:spcPts val="0"/>
                        </a:spcAft>
                        <a:buClr>
                          <a:schemeClr val="dk1"/>
                        </a:buClr>
                        <a:buSzPts val="1500"/>
                        <a:buFont typeface="Arial"/>
                        <a:buNone/>
                      </a:pPr>
                      <a:r>
                        <a:rPr lang="en-GB" sz="1500">
                          <a:latin typeface="Times New Roman"/>
                          <a:ea typeface="Times New Roman"/>
                          <a:cs typeface="Times New Roman"/>
                          <a:sym typeface="Times New Roman"/>
                        </a:rPr>
                        <a:t>MRI is costly procedure and it could also lead to radiation risks</a:t>
                      </a:r>
                      <a:endParaRPr sz="1500" u="none" strike="noStrike" cap="none">
                        <a:latin typeface="Times New Roman"/>
                        <a:ea typeface="Times New Roman"/>
                        <a:cs typeface="Times New Roman"/>
                        <a:sym typeface="Times New Roman"/>
                      </a:endParaRPr>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just" rtl="0">
                        <a:lnSpc>
                          <a:spcPct val="150000"/>
                        </a:lnSpc>
                        <a:spcBef>
                          <a:spcPts val="0"/>
                        </a:spcBef>
                        <a:spcAft>
                          <a:spcPts val="0"/>
                        </a:spcAft>
                        <a:buClr>
                          <a:schemeClr val="dk1"/>
                        </a:buClr>
                        <a:buSzPts val="1500"/>
                        <a:buFont typeface="Arial"/>
                        <a:buNone/>
                      </a:pPr>
                      <a:r>
                        <a:rPr lang="en-GB" sz="1500">
                          <a:solidFill>
                            <a:schemeClr val="dk1"/>
                          </a:solidFill>
                          <a:latin typeface="Times New Roman"/>
                          <a:ea typeface="Times New Roman"/>
                          <a:cs typeface="Times New Roman"/>
                          <a:sym typeface="Times New Roman"/>
                        </a:rPr>
                        <a:t>Using PET(Positron Emission tomography),SPECT(</a:t>
                      </a:r>
                      <a:r>
                        <a:rPr lang="en-GB" sz="1800">
                          <a:solidFill>
                            <a:schemeClr val="dk1"/>
                          </a:solidFill>
                          <a:latin typeface="Times New Roman"/>
                          <a:ea typeface="Times New Roman"/>
                          <a:cs typeface="Times New Roman"/>
                          <a:sym typeface="Times New Roman"/>
                        </a:rPr>
                        <a:t>Single Photon Emission Computed Tomography</a:t>
                      </a:r>
                      <a:r>
                        <a:rPr lang="en-GB" sz="1500">
                          <a:solidFill>
                            <a:schemeClr val="dk1"/>
                          </a:solidFill>
                          <a:latin typeface="Times New Roman"/>
                          <a:ea typeface="Times New Roman"/>
                          <a:cs typeface="Times New Roman"/>
                          <a:sym typeface="Times New Roman"/>
                        </a:rPr>
                        <a:t>),MMSE(</a:t>
                      </a:r>
                      <a:r>
                        <a:rPr lang="en-GB" sz="1800">
                          <a:solidFill>
                            <a:schemeClr val="dk1"/>
                          </a:solidFill>
                          <a:latin typeface="Times New Roman"/>
                          <a:ea typeface="Times New Roman"/>
                          <a:cs typeface="Times New Roman"/>
                          <a:sym typeface="Times New Roman"/>
                        </a:rPr>
                        <a:t>Mini-Mental State Examination</a:t>
                      </a:r>
                      <a:r>
                        <a:rPr lang="en-GB" sz="1500">
                          <a:solidFill>
                            <a:schemeClr val="dk1"/>
                          </a:solidFill>
                          <a:latin typeface="Times New Roman"/>
                          <a:ea typeface="Times New Roman"/>
                          <a:cs typeface="Times New Roman"/>
                          <a:sym typeface="Times New Roman"/>
                        </a:rPr>
                        <a:t>) </a:t>
                      </a:r>
                      <a:endParaRPr sz="1500" u="none" strike="noStrike" cap="none">
                        <a:solidFill>
                          <a:schemeClr val="dk1"/>
                        </a:solidFill>
                        <a:latin typeface="Times New Roman"/>
                        <a:ea typeface="Times New Roman"/>
                        <a:cs typeface="Times New Roman"/>
                        <a:sym typeface="Times New Roman"/>
                      </a:endParaRPr>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g381534ec281_0_110"/>
          <p:cNvSpPr/>
          <p:nvPr/>
        </p:nvSpPr>
        <p:spPr>
          <a:xfrm>
            <a:off x="1214414" y="11130"/>
            <a:ext cx="7715400" cy="631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a:buNone/>
            </a:pPr>
            <a:r>
              <a:rPr lang="en-GB" sz="3600" b="1" i="0" u="none" strike="noStrike" cap="none">
                <a:solidFill>
                  <a:schemeClr val="lt1"/>
                </a:solidFill>
                <a:latin typeface="Calibri"/>
                <a:ea typeface="Calibri"/>
                <a:cs typeface="Calibri"/>
                <a:sym typeface="Calibri"/>
              </a:rPr>
              <a:t>LITERATURE SURVEY</a:t>
            </a:r>
            <a:endParaRPr sz="1400" b="0" i="0" u="none" strike="noStrike" cap="none">
              <a:solidFill>
                <a:srgbClr val="000000"/>
              </a:solidFill>
              <a:latin typeface="Arial"/>
              <a:ea typeface="Arial"/>
              <a:cs typeface="Arial"/>
              <a:sym typeface="Arial"/>
            </a:endParaRPr>
          </a:p>
        </p:txBody>
      </p:sp>
      <p:sp>
        <p:nvSpPr>
          <p:cNvPr id="159" name="Google Shape;159;g381534ec281_0_110"/>
          <p:cNvSpPr/>
          <p:nvPr/>
        </p:nvSpPr>
        <p:spPr>
          <a:xfrm>
            <a:off x="0" y="4929204"/>
            <a:ext cx="9144000" cy="2142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0" name="Google Shape;160;g381534ec281_0_110"/>
          <p:cNvPicPr preferRelativeResize="0"/>
          <p:nvPr/>
        </p:nvPicPr>
        <p:blipFill rotWithShape="1">
          <a:blip r:embed="rId3">
            <a:alphaModFix/>
          </a:blip>
          <a:srcRect/>
          <a:stretch/>
        </p:blipFill>
        <p:spPr>
          <a:xfrm>
            <a:off x="201538" y="0"/>
            <a:ext cx="652500" cy="642924"/>
          </a:xfrm>
          <a:prstGeom prst="rect">
            <a:avLst/>
          </a:prstGeom>
          <a:noFill/>
          <a:ln>
            <a:noFill/>
          </a:ln>
        </p:spPr>
      </p:pic>
      <p:sp>
        <p:nvSpPr>
          <p:cNvPr id="161" name="Google Shape;161;g381534ec281_0_110"/>
          <p:cNvSpPr txBox="1"/>
          <p:nvPr/>
        </p:nvSpPr>
        <p:spPr>
          <a:xfrm>
            <a:off x="142844" y="4929204"/>
            <a:ext cx="2133600" cy="219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GB" sz="1800" b="1" i="0" u="none" strike="noStrike" cap="none">
                <a:solidFill>
                  <a:schemeClr val="lt1"/>
                </a:solidFill>
                <a:latin typeface="Calibri"/>
                <a:ea typeface="Calibri"/>
                <a:cs typeface="Calibri"/>
                <a:sym typeface="Calibri"/>
              </a:rPr>
              <a:t>24/12/2022</a:t>
            </a:r>
            <a:endParaRPr sz="1400" b="0" i="0" u="none" strike="noStrike" cap="none">
              <a:solidFill>
                <a:srgbClr val="000000"/>
              </a:solidFill>
              <a:latin typeface="Arial"/>
              <a:ea typeface="Arial"/>
              <a:cs typeface="Arial"/>
              <a:sym typeface="Arial"/>
            </a:endParaRPr>
          </a:p>
        </p:txBody>
      </p:sp>
      <p:sp>
        <p:nvSpPr>
          <p:cNvPr id="162" name="Google Shape;162;g381534ec281_0_110"/>
          <p:cNvSpPr txBox="1"/>
          <p:nvPr/>
        </p:nvSpPr>
        <p:spPr>
          <a:xfrm>
            <a:off x="6724680" y="4875626"/>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GB" sz="1800" b="1" i="0" u="none" strike="noStrike" cap="none">
                <a:solidFill>
                  <a:schemeClr val="lt1"/>
                </a:solidFill>
                <a:latin typeface="Calibri"/>
                <a:ea typeface="Calibri"/>
                <a:cs typeface="Calibri"/>
                <a:sym typeface="Calibri"/>
              </a:rPr>
              <a:t>11</a:t>
            </a:fld>
            <a:endParaRPr sz="1800" b="1" i="0" u="none" strike="noStrike" cap="none">
              <a:solidFill>
                <a:schemeClr val="lt1"/>
              </a:solidFill>
              <a:latin typeface="Calibri"/>
              <a:ea typeface="Calibri"/>
              <a:cs typeface="Calibri"/>
              <a:sym typeface="Calibri"/>
            </a:endParaRPr>
          </a:p>
        </p:txBody>
      </p:sp>
      <p:sp>
        <p:nvSpPr>
          <p:cNvPr id="163" name="Google Shape;163;g381534ec281_0_110"/>
          <p:cNvSpPr txBox="1"/>
          <p:nvPr/>
        </p:nvSpPr>
        <p:spPr>
          <a:xfrm>
            <a:off x="1928794" y="4875626"/>
            <a:ext cx="50007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1" i="0" u="none" strike="noStrike" cap="none">
                <a:solidFill>
                  <a:schemeClr val="lt1"/>
                </a:solidFill>
                <a:latin typeface="Calibri"/>
                <a:ea typeface="Calibri"/>
                <a:cs typeface="Calibri"/>
                <a:sym typeface="Calibri"/>
              </a:rPr>
              <a:t>Department of Computer Science &amp; Engineering</a:t>
            </a:r>
            <a:endParaRPr sz="1800" b="1" i="0" u="none" strike="noStrike" cap="none">
              <a:solidFill>
                <a:schemeClr val="lt1"/>
              </a:solidFill>
              <a:latin typeface="Calibri"/>
              <a:ea typeface="Calibri"/>
              <a:cs typeface="Calibri"/>
              <a:sym typeface="Calibri"/>
            </a:endParaRPr>
          </a:p>
        </p:txBody>
      </p:sp>
      <p:graphicFrame>
        <p:nvGraphicFramePr>
          <p:cNvPr id="164" name="Google Shape;164;g381534ec281_0_110"/>
          <p:cNvGraphicFramePr/>
          <p:nvPr/>
        </p:nvGraphicFramePr>
        <p:xfrm>
          <a:off x="397838" y="774145"/>
          <a:ext cx="8531975" cy="4043491"/>
        </p:xfrm>
        <a:graphic>
          <a:graphicData uri="http://schemas.openxmlformats.org/drawingml/2006/table">
            <a:tbl>
              <a:tblPr>
                <a:noFill/>
                <a:tableStyleId>{5C467FC6-CA59-4B7A-9D0F-6C8D04829015}</a:tableStyleId>
              </a:tblPr>
              <a:tblGrid>
                <a:gridCol w="617875">
                  <a:extLst>
                    <a:ext uri="{9D8B030D-6E8A-4147-A177-3AD203B41FA5}">
                      <a16:colId xmlns:a16="http://schemas.microsoft.com/office/drawing/2014/main" val="20000"/>
                    </a:ext>
                  </a:extLst>
                </a:gridCol>
                <a:gridCol w="1596725">
                  <a:extLst>
                    <a:ext uri="{9D8B030D-6E8A-4147-A177-3AD203B41FA5}">
                      <a16:colId xmlns:a16="http://schemas.microsoft.com/office/drawing/2014/main" val="20001"/>
                    </a:ext>
                  </a:extLst>
                </a:gridCol>
                <a:gridCol w="2451200">
                  <a:extLst>
                    <a:ext uri="{9D8B030D-6E8A-4147-A177-3AD203B41FA5}">
                      <a16:colId xmlns:a16="http://schemas.microsoft.com/office/drawing/2014/main" val="20002"/>
                    </a:ext>
                  </a:extLst>
                </a:gridCol>
                <a:gridCol w="2137725">
                  <a:extLst>
                    <a:ext uri="{9D8B030D-6E8A-4147-A177-3AD203B41FA5}">
                      <a16:colId xmlns:a16="http://schemas.microsoft.com/office/drawing/2014/main" val="20003"/>
                    </a:ext>
                  </a:extLst>
                </a:gridCol>
                <a:gridCol w="1728450">
                  <a:extLst>
                    <a:ext uri="{9D8B030D-6E8A-4147-A177-3AD203B41FA5}">
                      <a16:colId xmlns:a16="http://schemas.microsoft.com/office/drawing/2014/main" val="20004"/>
                    </a:ext>
                  </a:extLst>
                </a:gridCol>
              </a:tblGrid>
              <a:tr h="861325">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t>S.No</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t>Paper Title</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solidFill>
                            <a:schemeClr val="dk1"/>
                          </a:solidFill>
                        </a:rPr>
                        <a:t>Methodology</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solidFill>
                            <a:schemeClr val="dk1"/>
                          </a:solidFill>
                        </a:rPr>
                        <a:t>Drawbacks</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t>Proposed Methodology to overcome those drawbacks</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extLst>
                  <a:ext uri="{0D108BD9-81ED-4DB2-BD59-A6C34878D82A}">
                    <a16:rowId xmlns:a16="http://schemas.microsoft.com/office/drawing/2014/main" val="10000"/>
                  </a:ext>
                </a:extLst>
              </a:tr>
              <a:tr h="3036200">
                <a:tc>
                  <a:txBody>
                    <a:bodyPr/>
                    <a:lstStyle/>
                    <a:p>
                      <a:pPr marL="0" marR="533400" lvl="0" indent="0" algn="just" rtl="0">
                        <a:lnSpc>
                          <a:spcPct val="100000"/>
                        </a:lnSpc>
                        <a:spcBef>
                          <a:spcPts val="0"/>
                        </a:spcBef>
                        <a:spcAft>
                          <a:spcPts val="0"/>
                        </a:spcAft>
                        <a:buClr>
                          <a:srgbClr val="000000"/>
                        </a:buClr>
                        <a:buSzPts val="1100"/>
                        <a:buFont typeface="Arial"/>
                        <a:buNone/>
                      </a:pPr>
                      <a:r>
                        <a:rPr lang="en-GB" sz="1300"/>
                        <a:t>2</a:t>
                      </a:r>
                      <a:r>
                        <a:rPr lang="en-GB" sz="1300" u="none" strike="noStrike" cap="none"/>
                        <a:t>.</a:t>
                      </a:r>
                      <a:endParaRPr sz="1300" u="none" strike="noStrike" cap="none"/>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just" rtl="0">
                        <a:lnSpc>
                          <a:spcPct val="150000"/>
                        </a:lnSpc>
                        <a:spcBef>
                          <a:spcPts val="0"/>
                        </a:spcBef>
                        <a:spcAft>
                          <a:spcPts val="0"/>
                        </a:spcAft>
                        <a:buClr>
                          <a:schemeClr val="dk1"/>
                        </a:buClr>
                        <a:buSzPts val="1500"/>
                        <a:buFont typeface="Arial"/>
                        <a:buNone/>
                      </a:pPr>
                      <a:r>
                        <a:rPr lang="en-GB" sz="1500">
                          <a:latin typeface="Times New Roman"/>
                          <a:ea typeface="Times New Roman"/>
                          <a:cs typeface="Times New Roman"/>
                          <a:sym typeface="Times New Roman"/>
                        </a:rPr>
                        <a:t>Early Prediction of Alzheimer’s Disease Dementia Using Baseline MRI and Longitudinal Cognitive Measures with Deep RNNs.</a:t>
                      </a:r>
                      <a:endParaRPr sz="1500" u="none" strike="noStrike" cap="none">
                        <a:latin typeface="Times New Roman"/>
                        <a:ea typeface="Times New Roman"/>
                        <a:cs typeface="Times New Roman"/>
                        <a:sym typeface="Times New Roman"/>
                      </a:endParaRPr>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just" rtl="0">
                        <a:lnSpc>
                          <a:spcPct val="150000"/>
                        </a:lnSpc>
                        <a:spcBef>
                          <a:spcPts val="0"/>
                        </a:spcBef>
                        <a:spcAft>
                          <a:spcPts val="0"/>
                        </a:spcAft>
                        <a:buClr>
                          <a:schemeClr val="dk1"/>
                        </a:buClr>
                        <a:buSzPts val="1500"/>
                        <a:buFont typeface="Arial"/>
                        <a:buNone/>
                      </a:pPr>
                      <a:r>
                        <a:rPr lang="en-GB" sz="1500">
                          <a:latin typeface="Times New Roman"/>
                          <a:ea typeface="Times New Roman"/>
                          <a:cs typeface="Times New Roman"/>
                          <a:sym typeface="Times New Roman"/>
                        </a:rPr>
                        <a:t>An LSTM autoencoder learns temporal features from cognitive tests, combined with baseline hippocampal MRI in a Cox regression model to predict MCI progression to AD.</a:t>
                      </a:r>
                      <a:endParaRPr sz="1500" u="none" strike="noStrike" cap="none">
                        <a:latin typeface="Times New Roman"/>
                        <a:ea typeface="Times New Roman"/>
                        <a:cs typeface="Times New Roman"/>
                        <a:sym typeface="Times New Roman"/>
                      </a:endParaRPr>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just" rtl="0">
                        <a:lnSpc>
                          <a:spcPct val="150000"/>
                        </a:lnSpc>
                        <a:spcBef>
                          <a:spcPts val="0"/>
                        </a:spcBef>
                        <a:spcAft>
                          <a:spcPts val="0"/>
                        </a:spcAft>
                        <a:buClr>
                          <a:schemeClr val="dk1"/>
                        </a:buClr>
                        <a:buSzPts val="1500"/>
                        <a:buFont typeface="Arial"/>
                        <a:buNone/>
                      </a:pPr>
                      <a:r>
                        <a:rPr lang="en-GB" sz="1500">
                          <a:latin typeface="Times New Roman"/>
                          <a:ea typeface="Times New Roman"/>
                          <a:cs typeface="Times New Roman"/>
                          <a:sym typeface="Times New Roman"/>
                        </a:rPr>
                        <a:t>Missing data issues, reliance on threshold-based classification, limited generalization of assumptions, and absence of longitudinal imaging.</a:t>
                      </a:r>
                      <a:endParaRPr sz="1500" u="none" strike="noStrike" cap="none">
                        <a:latin typeface="Times New Roman"/>
                        <a:ea typeface="Times New Roman"/>
                        <a:cs typeface="Times New Roman"/>
                        <a:sym typeface="Times New Roman"/>
                      </a:endParaRPr>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just" rtl="0">
                        <a:lnSpc>
                          <a:spcPct val="150000"/>
                        </a:lnSpc>
                        <a:spcBef>
                          <a:spcPts val="0"/>
                        </a:spcBef>
                        <a:spcAft>
                          <a:spcPts val="0"/>
                        </a:spcAft>
                        <a:buClr>
                          <a:schemeClr val="dk1"/>
                        </a:buClr>
                        <a:buSzPts val="1500"/>
                        <a:buFont typeface="Arial"/>
                        <a:buNone/>
                      </a:pPr>
                      <a:r>
                        <a:rPr lang="en-GB" sz="1500">
                          <a:solidFill>
                            <a:schemeClr val="dk1"/>
                          </a:solidFill>
                          <a:latin typeface="Times New Roman"/>
                          <a:ea typeface="Times New Roman"/>
                          <a:cs typeface="Times New Roman"/>
                          <a:sym typeface="Times New Roman"/>
                        </a:rPr>
                        <a:t>Use LSTM autoencoder with MRI and cognitive data to capture temporal dynamics, handle irregular data, and improve prediction accuracy and timing.</a:t>
                      </a:r>
                      <a:endParaRPr sz="1500" u="none" strike="noStrike" cap="none">
                        <a:solidFill>
                          <a:schemeClr val="dk1"/>
                        </a:solidFill>
                        <a:latin typeface="Times New Roman"/>
                        <a:ea typeface="Times New Roman"/>
                        <a:cs typeface="Times New Roman"/>
                        <a:sym typeface="Times New Roman"/>
                      </a:endParaRPr>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g381534ec281_0_165"/>
          <p:cNvSpPr/>
          <p:nvPr/>
        </p:nvSpPr>
        <p:spPr>
          <a:xfrm>
            <a:off x="1214414" y="11130"/>
            <a:ext cx="7715400" cy="631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a:buNone/>
            </a:pPr>
            <a:r>
              <a:rPr lang="en-GB" sz="3600" b="1" i="0" u="none" strike="noStrike" cap="none">
                <a:solidFill>
                  <a:schemeClr val="lt1"/>
                </a:solidFill>
                <a:latin typeface="Calibri"/>
                <a:ea typeface="Calibri"/>
                <a:cs typeface="Calibri"/>
                <a:sym typeface="Calibri"/>
              </a:rPr>
              <a:t>LITERATURE SURVEY</a:t>
            </a:r>
            <a:endParaRPr sz="1400" b="0" i="0" u="none" strike="noStrike" cap="none">
              <a:solidFill>
                <a:srgbClr val="000000"/>
              </a:solidFill>
              <a:latin typeface="Arial"/>
              <a:ea typeface="Arial"/>
              <a:cs typeface="Arial"/>
              <a:sym typeface="Arial"/>
            </a:endParaRPr>
          </a:p>
        </p:txBody>
      </p:sp>
      <p:sp>
        <p:nvSpPr>
          <p:cNvPr id="170" name="Google Shape;170;g381534ec281_0_165"/>
          <p:cNvSpPr/>
          <p:nvPr/>
        </p:nvSpPr>
        <p:spPr>
          <a:xfrm>
            <a:off x="0" y="4929204"/>
            <a:ext cx="9144000" cy="2142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71" name="Google Shape;171;g381534ec281_0_165"/>
          <p:cNvPicPr preferRelativeResize="0"/>
          <p:nvPr/>
        </p:nvPicPr>
        <p:blipFill rotWithShape="1">
          <a:blip r:embed="rId3">
            <a:alphaModFix/>
          </a:blip>
          <a:srcRect/>
          <a:stretch/>
        </p:blipFill>
        <p:spPr>
          <a:xfrm>
            <a:off x="201538" y="0"/>
            <a:ext cx="652500" cy="642924"/>
          </a:xfrm>
          <a:prstGeom prst="rect">
            <a:avLst/>
          </a:prstGeom>
          <a:noFill/>
          <a:ln>
            <a:noFill/>
          </a:ln>
        </p:spPr>
      </p:pic>
      <p:sp>
        <p:nvSpPr>
          <p:cNvPr id="172" name="Google Shape;172;g381534ec281_0_165"/>
          <p:cNvSpPr txBox="1"/>
          <p:nvPr/>
        </p:nvSpPr>
        <p:spPr>
          <a:xfrm>
            <a:off x="142844" y="4929204"/>
            <a:ext cx="2133600" cy="219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GB" sz="1800" b="1" i="0" u="none" strike="noStrike" cap="none">
                <a:solidFill>
                  <a:schemeClr val="lt1"/>
                </a:solidFill>
                <a:latin typeface="Calibri"/>
                <a:ea typeface="Calibri"/>
                <a:cs typeface="Calibri"/>
                <a:sym typeface="Calibri"/>
              </a:rPr>
              <a:t>24/12/2022</a:t>
            </a:r>
            <a:endParaRPr sz="1400" b="0" i="0" u="none" strike="noStrike" cap="none">
              <a:solidFill>
                <a:srgbClr val="000000"/>
              </a:solidFill>
              <a:latin typeface="Arial"/>
              <a:ea typeface="Arial"/>
              <a:cs typeface="Arial"/>
              <a:sym typeface="Arial"/>
            </a:endParaRPr>
          </a:p>
        </p:txBody>
      </p:sp>
      <p:sp>
        <p:nvSpPr>
          <p:cNvPr id="173" name="Google Shape;173;g381534ec281_0_165"/>
          <p:cNvSpPr txBox="1"/>
          <p:nvPr/>
        </p:nvSpPr>
        <p:spPr>
          <a:xfrm>
            <a:off x="6724680" y="4875626"/>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GB" sz="1800" b="1" i="0" u="none" strike="noStrike" cap="none">
                <a:solidFill>
                  <a:schemeClr val="lt1"/>
                </a:solidFill>
                <a:latin typeface="Calibri"/>
                <a:ea typeface="Calibri"/>
                <a:cs typeface="Calibri"/>
                <a:sym typeface="Calibri"/>
              </a:rPr>
              <a:t>12</a:t>
            </a:fld>
            <a:endParaRPr sz="1800" b="1" i="0" u="none" strike="noStrike" cap="none">
              <a:solidFill>
                <a:schemeClr val="lt1"/>
              </a:solidFill>
              <a:latin typeface="Calibri"/>
              <a:ea typeface="Calibri"/>
              <a:cs typeface="Calibri"/>
              <a:sym typeface="Calibri"/>
            </a:endParaRPr>
          </a:p>
        </p:txBody>
      </p:sp>
      <p:sp>
        <p:nvSpPr>
          <p:cNvPr id="174" name="Google Shape;174;g381534ec281_0_165"/>
          <p:cNvSpPr txBox="1"/>
          <p:nvPr/>
        </p:nvSpPr>
        <p:spPr>
          <a:xfrm>
            <a:off x="1928794" y="4875626"/>
            <a:ext cx="50007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1" i="0" u="none" strike="noStrike" cap="none">
                <a:solidFill>
                  <a:schemeClr val="lt1"/>
                </a:solidFill>
                <a:latin typeface="Calibri"/>
                <a:ea typeface="Calibri"/>
                <a:cs typeface="Calibri"/>
                <a:sym typeface="Calibri"/>
              </a:rPr>
              <a:t>Department of Computer Science &amp; Engineering</a:t>
            </a:r>
            <a:endParaRPr sz="1800" b="1" i="0" u="none" strike="noStrike" cap="none">
              <a:solidFill>
                <a:schemeClr val="lt1"/>
              </a:solidFill>
              <a:latin typeface="Calibri"/>
              <a:ea typeface="Calibri"/>
              <a:cs typeface="Calibri"/>
              <a:sym typeface="Calibri"/>
            </a:endParaRPr>
          </a:p>
        </p:txBody>
      </p:sp>
      <p:graphicFrame>
        <p:nvGraphicFramePr>
          <p:cNvPr id="175" name="Google Shape;175;g381534ec281_0_165"/>
          <p:cNvGraphicFramePr/>
          <p:nvPr/>
        </p:nvGraphicFramePr>
        <p:xfrm>
          <a:off x="306013" y="978095"/>
          <a:ext cx="8531975" cy="3897525"/>
        </p:xfrm>
        <a:graphic>
          <a:graphicData uri="http://schemas.openxmlformats.org/drawingml/2006/table">
            <a:tbl>
              <a:tblPr>
                <a:noFill/>
                <a:tableStyleId>{5C467FC6-CA59-4B7A-9D0F-6C8D04829015}</a:tableStyleId>
              </a:tblPr>
              <a:tblGrid>
                <a:gridCol w="617875">
                  <a:extLst>
                    <a:ext uri="{9D8B030D-6E8A-4147-A177-3AD203B41FA5}">
                      <a16:colId xmlns:a16="http://schemas.microsoft.com/office/drawing/2014/main" val="20000"/>
                    </a:ext>
                  </a:extLst>
                </a:gridCol>
                <a:gridCol w="1497275">
                  <a:extLst>
                    <a:ext uri="{9D8B030D-6E8A-4147-A177-3AD203B41FA5}">
                      <a16:colId xmlns:a16="http://schemas.microsoft.com/office/drawing/2014/main" val="20001"/>
                    </a:ext>
                  </a:extLst>
                </a:gridCol>
                <a:gridCol w="2266525">
                  <a:extLst>
                    <a:ext uri="{9D8B030D-6E8A-4147-A177-3AD203B41FA5}">
                      <a16:colId xmlns:a16="http://schemas.microsoft.com/office/drawing/2014/main" val="20002"/>
                    </a:ext>
                  </a:extLst>
                </a:gridCol>
                <a:gridCol w="1967200">
                  <a:extLst>
                    <a:ext uri="{9D8B030D-6E8A-4147-A177-3AD203B41FA5}">
                      <a16:colId xmlns:a16="http://schemas.microsoft.com/office/drawing/2014/main" val="20003"/>
                    </a:ext>
                  </a:extLst>
                </a:gridCol>
                <a:gridCol w="2183100">
                  <a:extLst>
                    <a:ext uri="{9D8B030D-6E8A-4147-A177-3AD203B41FA5}">
                      <a16:colId xmlns:a16="http://schemas.microsoft.com/office/drawing/2014/main" val="20004"/>
                    </a:ext>
                  </a:extLst>
                </a:gridCol>
              </a:tblGrid>
              <a:tr h="861325">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t>S.No</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t>Paper Title</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solidFill>
                            <a:schemeClr val="dk1"/>
                          </a:solidFill>
                        </a:rPr>
                        <a:t>Methodology</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solidFill>
                            <a:schemeClr val="dk1"/>
                          </a:solidFill>
                        </a:rPr>
                        <a:t>Drawbacks</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t>Proposed Methodology to overcome those drawbacks</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extLst>
                  <a:ext uri="{0D108BD9-81ED-4DB2-BD59-A6C34878D82A}">
                    <a16:rowId xmlns:a16="http://schemas.microsoft.com/office/drawing/2014/main" val="10000"/>
                  </a:ext>
                </a:extLst>
              </a:tr>
              <a:tr h="3036200">
                <a:tc>
                  <a:txBody>
                    <a:bodyPr/>
                    <a:lstStyle/>
                    <a:p>
                      <a:pPr marL="0" marR="533400" lvl="0" indent="0" algn="just" rtl="0">
                        <a:lnSpc>
                          <a:spcPct val="100000"/>
                        </a:lnSpc>
                        <a:spcBef>
                          <a:spcPts val="0"/>
                        </a:spcBef>
                        <a:spcAft>
                          <a:spcPts val="0"/>
                        </a:spcAft>
                        <a:buClr>
                          <a:srgbClr val="000000"/>
                        </a:buClr>
                        <a:buSzPts val="1100"/>
                        <a:buFont typeface="Arial"/>
                        <a:buNone/>
                      </a:pPr>
                      <a:r>
                        <a:rPr lang="en-GB" sz="1300"/>
                        <a:t>3</a:t>
                      </a:r>
                      <a:r>
                        <a:rPr lang="en-GB" sz="1300" u="none" strike="noStrike" cap="none"/>
                        <a:t>.</a:t>
                      </a:r>
                      <a:endParaRPr sz="1300" u="none" strike="noStrike" cap="none"/>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just" rtl="0">
                        <a:lnSpc>
                          <a:spcPct val="150000"/>
                        </a:lnSpc>
                        <a:spcBef>
                          <a:spcPts val="0"/>
                        </a:spcBef>
                        <a:spcAft>
                          <a:spcPts val="0"/>
                        </a:spcAft>
                        <a:buClr>
                          <a:schemeClr val="dk1"/>
                        </a:buClr>
                        <a:buSzPts val="1500"/>
                        <a:buFont typeface="Arial"/>
                        <a:buNone/>
                      </a:pPr>
                      <a:r>
                        <a:rPr lang="en-GB" sz="1100">
                          <a:solidFill>
                            <a:schemeClr val="dk1"/>
                          </a:solidFill>
                          <a:latin typeface="Times New Roman"/>
                          <a:ea typeface="Times New Roman"/>
                          <a:cs typeface="Times New Roman"/>
                          <a:sym typeface="Times New Roman"/>
                        </a:rPr>
                        <a:t>An unsupervised ROI extraction model (</a:t>
                      </a:r>
                      <a:r>
                        <a:rPr lang="en-GB" sz="1100" b="1">
                          <a:solidFill>
                            <a:schemeClr val="dk1"/>
                          </a:solidFill>
                          <a:latin typeface="Times New Roman"/>
                          <a:ea typeface="Times New Roman"/>
                          <a:cs typeface="Times New Roman"/>
                          <a:sym typeface="Times New Roman"/>
                        </a:rPr>
                        <a:t>GANCMLAE4TAU</a:t>
                      </a:r>
                      <a:r>
                        <a:rPr lang="en-GB" sz="1100">
                          <a:solidFill>
                            <a:schemeClr val="dk1"/>
                          </a:solidFill>
                          <a:latin typeface="Times New Roman"/>
                          <a:ea typeface="Times New Roman"/>
                          <a:cs typeface="Times New Roman"/>
                          <a:sym typeface="Times New Roman"/>
                        </a:rPr>
                        <a:t>) for tau PET images to improve Alzheimer’s diagnosis by detecting individual tau depositions.</a:t>
                      </a:r>
                      <a:endParaRPr sz="1500" u="none" strike="noStrike" cap="none">
                        <a:latin typeface="Times New Roman"/>
                        <a:ea typeface="Times New Roman"/>
                        <a:cs typeface="Times New Roman"/>
                        <a:sym typeface="Times New Roman"/>
                      </a:endParaRPr>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just" rtl="0">
                        <a:lnSpc>
                          <a:spcPct val="150000"/>
                        </a:lnSpc>
                        <a:spcBef>
                          <a:spcPts val="0"/>
                        </a:spcBef>
                        <a:spcAft>
                          <a:spcPts val="0"/>
                        </a:spcAft>
                        <a:buClr>
                          <a:schemeClr val="dk1"/>
                        </a:buClr>
                        <a:buSzPts val="1500"/>
                        <a:buFont typeface="Arial"/>
                        <a:buNone/>
                      </a:pPr>
                      <a:r>
                        <a:rPr lang="en-GB" sz="1500">
                          <a:latin typeface="Times New Roman"/>
                          <a:ea typeface="Times New Roman"/>
                          <a:cs typeface="Times New Roman"/>
                          <a:sym typeface="Times New Roman"/>
                        </a:rPr>
                        <a:t>The GAN-based autoencoder uses two encoders, one decoder, and a discriminator to extract ROIs from 3D tau PET scans, validated with SSIM, PSNR, MSE, and ROC.</a:t>
                      </a:r>
                      <a:endParaRPr sz="1500" u="none" strike="noStrike" cap="none">
                        <a:latin typeface="Times New Roman"/>
                        <a:ea typeface="Times New Roman"/>
                        <a:cs typeface="Times New Roman"/>
                        <a:sym typeface="Times New Roman"/>
                      </a:endParaRPr>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just" rtl="0">
                        <a:lnSpc>
                          <a:spcPct val="150000"/>
                        </a:lnSpc>
                        <a:spcBef>
                          <a:spcPts val="0"/>
                        </a:spcBef>
                        <a:spcAft>
                          <a:spcPts val="0"/>
                        </a:spcAft>
                        <a:buClr>
                          <a:schemeClr val="dk1"/>
                        </a:buClr>
                        <a:buSzPts val="1500"/>
                        <a:buFont typeface="Arial"/>
                        <a:buNone/>
                      </a:pPr>
                      <a:r>
                        <a:rPr lang="en-GB" sz="1500">
                          <a:latin typeface="Times New Roman"/>
                          <a:ea typeface="Times New Roman"/>
                          <a:cs typeface="Times New Roman"/>
                          <a:sym typeface="Times New Roman"/>
                        </a:rPr>
                        <a:t>Missing data issues, reliance on threshold-based classification, limited generalization of assumptions, and absence of longitudinal imaging.</a:t>
                      </a:r>
                      <a:endParaRPr sz="1500" u="none" strike="noStrike" cap="none">
                        <a:latin typeface="Times New Roman"/>
                        <a:ea typeface="Times New Roman"/>
                        <a:cs typeface="Times New Roman"/>
                        <a:sym typeface="Times New Roman"/>
                      </a:endParaRPr>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just" rtl="0">
                        <a:lnSpc>
                          <a:spcPct val="150000"/>
                        </a:lnSpc>
                        <a:spcBef>
                          <a:spcPts val="0"/>
                        </a:spcBef>
                        <a:spcAft>
                          <a:spcPts val="0"/>
                        </a:spcAft>
                        <a:buClr>
                          <a:schemeClr val="dk1"/>
                        </a:buClr>
                        <a:buSzPts val="1500"/>
                        <a:buFont typeface="Arial"/>
                        <a:buNone/>
                      </a:pPr>
                      <a:r>
                        <a:rPr lang="en-GB" sz="1500">
                          <a:solidFill>
                            <a:schemeClr val="dk1"/>
                          </a:solidFill>
                          <a:latin typeface="Times New Roman"/>
                          <a:ea typeface="Times New Roman"/>
                          <a:cs typeface="Times New Roman"/>
                          <a:sym typeface="Times New Roman"/>
                        </a:rPr>
                        <a:t>Use LSTM autoencoder with MRI and cognitive data to capture temporal dynamics, handle irregular data, and improve prediction accuracy and timing.</a:t>
                      </a:r>
                      <a:endParaRPr sz="1500" u="none" strike="noStrike" cap="none">
                        <a:solidFill>
                          <a:schemeClr val="dk1"/>
                        </a:solidFill>
                        <a:latin typeface="Times New Roman"/>
                        <a:ea typeface="Times New Roman"/>
                        <a:cs typeface="Times New Roman"/>
                        <a:sym typeface="Times New Roman"/>
                      </a:endParaRPr>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381534ec281_0_220"/>
          <p:cNvSpPr/>
          <p:nvPr/>
        </p:nvSpPr>
        <p:spPr>
          <a:xfrm>
            <a:off x="1214414" y="11130"/>
            <a:ext cx="7715400" cy="631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a:buNone/>
            </a:pPr>
            <a:r>
              <a:rPr lang="en-GB" sz="3600" b="1" i="0" u="none" strike="noStrike" cap="none">
                <a:solidFill>
                  <a:schemeClr val="lt1"/>
                </a:solidFill>
                <a:latin typeface="Calibri"/>
                <a:ea typeface="Calibri"/>
                <a:cs typeface="Calibri"/>
                <a:sym typeface="Calibri"/>
              </a:rPr>
              <a:t>LITERATURE SURVEY</a:t>
            </a:r>
            <a:endParaRPr sz="1400" b="0" i="0" u="none" strike="noStrike" cap="none">
              <a:solidFill>
                <a:srgbClr val="000000"/>
              </a:solidFill>
              <a:latin typeface="Arial"/>
              <a:ea typeface="Arial"/>
              <a:cs typeface="Arial"/>
              <a:sym typeface="Arial"/>
            </a:endParaRPr>
          </a:p>
        </p:txBody>
      </p:sp>
      <p:sp>
        <p:nvSpPr>
          <p:cNvPr id="181" name="Google Shape;181;g381534ec281_0_220"/>
          <p:cNvSpPr/>
          <p:nvPr/>
        </p:nvSpPr>
        <p:spPr>
          <a:xfrm>
            <a:off x="0" y="4929204"/>
            <a:ext cx="9144000" cy="2142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82" name="Google Shape;182;g381534ec281_0_220"/>
          <p:cNvPicPr preferRelativeResize="0"/>
          <p:nvPr/>
        </p:nvPicPr>
        <p:blipFill rotWithShape="1">
          <a:blip r:embed="rId3">
            <a:alphaModFix/>
          </a:blip>
          <a:srcRect/>
          <a:stretch/>
        </p:blipFill>
        <p:spPr>
          <a:xfrm>
            <a:off x="201538" y="0"/>
            <a:ext cx="652500" cy="642924"/>
          </a:xfrm>
          <a:prstGeom prst="rect">
            <a:avLst/>
          </a:prstGeom>
          <a:noFill/>
          <a:ln>
            <a:noFill/>
          </a:ln>
        </p:spPr>
      </p:pic>
      <p:sp>
        <p:nvSpPr>
          <p:cNvPr id="183" name="Google Shape;183;g381534ec281_0_220"/>
          <p:cNvSpPr txBox="1"/>
          <p:nvPr/>
        </p:nvSpPr>
        <p:spPr>
          <a:xfrm>
            <a:off x="142844" y="4929204"/>
            <a:ext cx="2133600" cy="219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GB" sz="1800" b="1" i="0" u="none" strike="noStrike" cap="none">
                <a:solidFill>
                  <a:schemeClr val="lt1"/>
                </a:solidFill>
                <a:latin typeface="Calibri"/>
                <a:ea typeface="Calibri"/>
                <a:cs typeface="Calibri"/>
                <a:sym typeface="Calibri"/>
              </a:rPr>
              <a:t>24/12/2022</a:t>
            </a:r>
            <a:endParaRPr sz="1400" b="0" i="0" u="none" strike="noStrike" cap="none">
              <a:solidFill>
                <a:srgbClr val="000000"/>
              </a:solidFill>
              <a:latin typeface="Arial"/>
              <a:ea typeface="Arial"/>
              <a:cs typeface="Arial"/>
              <a:sym typeface="Arial"/>
            </a:endParaRPr>
          </a:p>
        </p:txBody>
      </p:sp>
      <p:sp>
        <p:nvSpPr>
          <p:cNvPr id="184" name="Google Shape;184;g381534ec281_0_220"/>
          <p:cNvSpPr txBox="1"/>
          <p:nvPr/>
        </p:nvSpPr>
        <p:spPr>
          <a:xfrm>
            <a:off x="6724680" y="4875626"/>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GB" sz="1800" b="1" i="0" u="none" strike="noStrike" cap="none">
                <a:solidFill>
                  <a:schemeClr val="lt1"/>
                </a:solidFill>
                <a:latin typeface="Calibri"/>
                <a:ea typeface="Calibri"/>
                <a:cs typeface="Calibri"/>
                <a:sym typeface="Calibri"/>
              </a:rPr>
              <a:t>13</a:t>
            </a:fld>
            <a:endParaRPr sz="1800" b="1" i="0" u="none" strike="noStrike" cap="none">
              <a:solidFill>
                <a:schemeClr val="lt1"/>
              </a:solidFill>
              <a:latin typeface="Calibri"/>
              <a:ea typeface="Calibri"/>
              <a:cs typeface="Calibri"/>
              <a:sym typeface="Calibri"/>
            </a:endParaRPr>
          </a:p>
        </p:txBody>
      </p:sp>
      <p:sp>
        <p:nvSpPr>
          <p:cNvPr id="185" name="Google Shape;185;g381534ec281_0_220"/>
          <p:cNvSpPr txBox="1"/>
          <p:nvPr/>
        </p:nvSpPr>
        <p:spPr>
          <a:xfrm>
            <a:off x="1928794" y="4875626"/>
            <a:ext cx="50007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1" i="0" u="none" strike="noStrike" cap="none">
                <a:solidFill>
                  <a:schemeClr val="lt1"/>
                </a:solidFill>
                <a:latin typeface="Calibri"/>
                <a:ea typeface="Calibri"/>
                <a:cs typeface="Calibri"/>
                <a:sym typeface="Calibri"/>
              </a:rPr>
              <a:t>Department of Computer Science &amp; Engineering</a:t>
            </a:r>
            <a:endParaRPr sz="1800" b="1" i="0" u="none" strike="noStrike" cap="none">
              <a:solidFill>
                <a:schemeClr val="lt1"/>
              </a:solidFill>
              <a:latin typeface="Calibri"/>
              <a:ea typeface="Calibri"/>
              <a:cs typeface="Calibri"/>
              <a:sym typeface="Calibri"/>
            </a:endParaRPr>
          </a:p>
        </p:txBody>
      </p:sp>
      <p:graphicFrame>
        <p:nvGraphicFramePr>
          <p:cNvPr id="186" name="Google Shape;186;g381534ec281_0_220"/>
          <p:cNvGraphicFramePr/>
          <p:nvPr/>
        </p:nvGraphicFramePr>
        <p:xfrm>
          <a:off x="201550" y="774133"/>
          <a:ext cx="8531975" cy="4043491"/>
        </p:xfrm>
        <a:graphic>
          <a:graphicData uri="http://schemas.openxmlformats.org/drawingml/2006/table">
            <a:tbl>
              <a:tblPr>
                <a:noFill/>
                <a:tableStyleId>{5C467FC6-CA59-4B7A-9D0F-6C8D04829015}</a:tableStyleId>
              </a:tblPr>
              <a:tblGrid>
                <a:gridCol w="617875">
                  <a:extLst>
                    <a:ext uri="{9D8B030D-6E8A-4147-A177-3AD203B41FA5}">
                      <a16:colId xmlns:a16="http://schemas.microsoft.com/office/drawing/2014/main" val="20000"/>
                    </a:ext>
                  </a:extLst>
                </a:gridCol>
                <a:gridCol w="1895100">
                  <a:extLst>
                    <a:ext uri="{9D8B030D-6E8A-4147-A177-3AD203B41FA5}">
                      <a16:colId xmlns:a16="http://schemas.microsoft.com/office/drawing/2014/main" val="20001"/>
                    </a:ext>
                  </a:extLst>
                </a:gridCol>
                <a:gridCol w="2394400">
                  <a:extLst>
                    <a:ext uri="{9D8B030D-6E8A-4147-A177-3AD203B41FA5}">
                      <a16:colId xmlns:a16="http://schemas.microsoft.com/office/drawing/2014/main" val="20002"/>
                    </a:ext>
                  </a:extLst>
                </a:gridCol>
                <a:gridCol w="1772675">
                  <a:extLst>
                    <a:ext uri="{9D8B030D-6E8A-4147-A177-3AD203B41FA5}">
                      <a16:colId xmlns:a16="http://schemas.microsoft.com/office/drawing/2014/main" val="20003"/>
                    </a:ext>
                  </a:extLst>
                </a:gridCol>
                <a:gridCol w="1851925">
                  <a:extLst>
                    <a:ext uri="{9D8B030D-6E8A-4147-A177-3AD203B41FA5}">
                      <a16:colId xmlns:a16="http://schemas.microsoft.com/office/drawing/2014/main" val="20004"/>
                    </a:ext>
                  </a:extLst>
                </a:gridCol>
              </a:tblGrid>
              <a:tr h="861325">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t>S.No</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t>Paper Title</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solidFill>
                            <a:schemeClr val="dk1"/>
                          </a:solidFill>
                        </a:rPr>
                        <a:t>Methodology</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solidFill>
                            <a:schemeClr val="dk1"/>
                          </a:solidFill>
                        </a:rPr>
                        <a:t>Drawbacks</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t>Proposed Methodology to overcome those drawbacks</a:t>
                      </a:r>
                      <a:endParaRPr sz="1100" b="1" u="none" strike="noStrike" cap="none"/>
                    </a:p>
                  </a:txBody>
                  <a:tcPr marL="91425" marR="91425" marT="68575" marB="6857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extLst>
                  <a:ext uri="{0D108BD9-81ED-4DB2-BD59-A6C34878D82A}">
                    <a16:rowId xmlns:a16="http://schemas.microsoft.com/office/drawing/2014/main" val="10000"/>
                  </a:ext>
                </a:extLst>
              </a:tr>
              <a:tr h="3036200">
                <a:tc>
                  <a:txBody>
                    <a:bodyPr/>
                    <a:lstStyle/>
                    <a:p>
                      <a:pPr marL="0" marR="533400" lvl="0" indent="0" algn="just" rtl="0">
                        <a:lnSpc>
                          <a:spcPct val="100000"/>
                        </a:lnSpc>
                        <a:spcBef>
                          <a:spcPts val="0"/>
                        </a:spcBef>
                        <a:spcAft>
                          <a:spcPts val="0"/>
                        </a:spcAft>
                        <a:buClr>
                          <a:srgbClr val="000000"/>
                        </a:buClr>
                        <a:buSzPts val="1100"/>
                        <a:buFont typeface="Arial"/>
                        <a:buNone/>
                      </a:pPr>
                      <a:r>
                        <a:rPr lang="en-GB" sz="1300"/>
                        <a:t>4</a:t>
                      </a:r>
                      <a:r>
                        <a:rPr lang="en-GB" sz="1300" u="none" strike="noStrike" cap="none"/>
                        <a:t>.</a:t>
                      </a:r>
                      <a:endParaRPr sz="1300" u="none" strike="noStrike" cap="none"/>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just" rtl="0">
                        <a:lnSpc>
                          <a:spcPct val="150000"/>
                        </a:lnSpc>
                        <a:spcBef>
                          <a:spcPts val="0"/>
                        </a:spcBef>
                        <a:spcAft>
                          <a:spcPts val="0"/>
                        </a:spcAft>
                        <a:buClr>
                          <a:schemeClr val="dk1"/>
                        </a:buClr>
                        <a:buSzPts val="1500"/>
                        <a:buFont typeface="Arial"/>
                        <a:buNone/>
                      </a:pPr>
                      <a:r>
                        <a:rPr lang="en-GB" sz="1500">
                          <a:latin typeface="Times New Roman"/>
                          <a:ea typeface="Times New Roman"/>
                          <a:cs typeface="Times New Roman"/>
                          <a:sym typeface="Times New Roman"/>
                        </a:rPr>
                        <a:t>A preliminary study on the impact of EEG density on TMS-EEG classification in Alzheimer’s disease using machine learning classifiers.</a:t>
                      </a:r>
                      <a:endParaRPr sz="1500" u="none" strike="noStrike" cap="none">
                        <a:latin typeface="Times New Roman"/>
                        <a:ea typeface="Times New Roman"/>
                        <a:cs typeface="Times New Roman"/>
                        <a:sym typeface="Times New Roman"/>
                      </a:endParaRPr>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just" rtl="0">
                        <a:lnSpc>
                          <a:spcPct val="150000"/>
                        </a:lnSpc>
                        <a:spcBef>
                          <a:spcPts val="0"/>
                        </a:spcBef>
                        <a:spcAft>
                          <a:spcPts val="0"/>
                        </a:spcAft>
                        <a:buClr>
                          <a:schemeClr val="dk1"/>
                        </a:buClr>
                        <a:buSzPts val="1500"/>
                        <a:buFont typeface="Arial"/>
                        <a:buNone/>
                      </a:pPr>
                      <a:r>
                        <a:rPr lang="en-GB" sz="1500">
                          <a:latin typeface="Times New Roman"/>
                          <a:ea typeface="Times New Roman"/>
                          <a:cs typeface="Times New Roman"/>
                          <a:sym typeface="Times New Roman"/>
                        </a:rPr>
                        <a:t>TMS-evoked EEG responses from 17 AD and 17 HC were processed, features extracted, and classified using Decision Tree, kNN, and Random Forest, with high-density electrodes giving best accuracy.</a:t>
                      </a:r>
                      <a:endParaRPr sz="1500" u="none" strike="noStrike" cap="none">
                        <a:latin typeface="Times New Roman"/>
                        <a:ea typeface="Times New Roman"/>
                        <a:cs typeface="Times New Roman"/>
                        <a:sym typeface="Times New Roman"/>
                      </a:endParaRPr>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just" rtl="0">
                        <a:lnSpc>
                          <a:spcPct val="150000"/>
                        </a:lnSpc>
                        <a:spcBef>
                          <a:spcPts val="0"/>
                        </a:spcBef>
                        <a:spcAft>
                          <a:spcPts val="0"/>
                        </a:spcAft>
                        <a:buClr>
                          <a:schemeClr val="dk1"/>
                        </a:buClr>
                        <a:buSzPts val="1500"/>
                        <a:buFont typeface="Arial"/>
                        <a:buNone/>
                      </a:pPr>
                      <a:r>
                        <a:rPr lang="en-GB" sz="1500">
                          <a:latin typeface="Times New Roman"/>
                          <a:ea typeface="Times New Roman"/>
                          <a:cs typeface="Times New Roman"/>
                          <a:sym typeface="Times New Roman"/>
                        </a:rPr>
                        <a:t>Small dataset size and reliance on manual preprocessing limit generalization; lower performance with medium and low-density electrode sets.</a:t>
                      </a:r>
                      <a:endParaRPr sz="1500" u="none" strike="noStrike" cap="none">
                        <a:latin typeface="Times New Roman"/>
                        <a:ea typeface="Times New Roman"/>
                        <a:cs typeface="Times New Roman"/>
                        <a:sym typeface="Times New Roman"/>
                      </a:endParaRPr>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tc>
                  <a:txBody>
                    <a:bodyPr/>
                    <a:lstStyle/>
                    <a:p>
                      <a:pPr marL="0" marR="0" lvl="0" indent="0" algn="just" rtl="0">
                        <a:lnSpc>
                          <a:spcPct val="150000"/>
                        </a:lnSpc>
                        <a:spcBef>
                          <a:spcPts val="0"/>
                        </a:spcBef>
                        <a:spcAft>
                          <a:spcPts val="0"/>
                        </a:spcAft>
                        <a:buClr>
                          <a:schemeClr val="dk1"/>
                        </a:buClr>
                        <a:buSzPts val="1500"/>
                        <a:buFont typeface="Arial"/>
                        <a:buNone/>
                      </a:pPr>
                      <a:r>
                        <a:rPr lang="en-GB" sz="1500">
                          <a:solidFill>
                            <a:schemeClr val="dk1"/>
                          </a:solidFill>
                          <a:latin typeface="Times New Roman"/>
                          <a:ea typeface="Times New Roman"/>
                          <a:cs typeface="Times New Roman"/>
                          <a:sym typeface="Times New Roman"/>
                        </a:rPr>
                        <a:t>Use larger datasets with automated preprocessing, explore frequency and connectivity features, and validate across multiple centers to improve robustness.</a:t>
                      </a:r>
                      <a:endParaRPr sz="1500" u="none" strike="noStrike" cap="none">
                        <a:solidFill>
                          <a:schemeClr val="dk1"/>
                        </a:solidFill>
                        <a:latin typeface="Times New Roman"/>
                        <a:ea typeface="Times New Roman"/>
                        <a:cs typeface="Times New Roman"/>
                        <a:sym typeface="Times New Roman"/>
                      </a:endParaRPr>
                    </a:p>
                  </a:txBody>
                  <a:tcPr marL="91425" marR="91425" marT="68575" marB="685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14</a:t>
            </a:fld>
            <a:endParaRPr/>
          </a:p>
        </p:txBody>
      </p:sp>
      <p:pic>
        <p:nvPicPr>
          <p:cNvPr id="192" name="Google Shape;192;p7" descr="logo.png"/>
          <p:cNvPicPr preferRelativeResize="0"/>
          <p:nvPr/>
        </p:nvPicPr>
        <p:blipFill rotWithShape="1">
          <a:blip r:embed="rId3">
            <a:alphaModFix/>
          </a:blip>
          <a:srcRect/>
          <a:stretch/>
        </p:blipFill>
        <p:spPr>
          <a:xfrm>
            <a:off x="201221" y="133128"/>
            <a:ext cx="928695" cy="857256"/>
          </a:xfrm>
          <a:prstGeom prst="rect">
            <a:avLst/>
          </a:prstGeom>
          <a:noFill/>
          <a:ln>
            <a:noFill/>
          </a:ln>
        </p:spPr>
      </p:pic>
      <p:sp>
        <p:nvSpPr>
          <p:cNvPr id="193" name="Google Shape;193;p7"/>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194" name="Google Shape;194;p7"/>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000"/>
              <a:buFont typeface="Arial"/>
              <a:buNone/>
            </a:pPr>
            <a:r>
              <a:rPr lang="en-GB" sz="3000" b="0" i="0" u="none" strike="noStrike" cap="none">
                <a:solidFill>
                  <a:schemeClr val="lt1"/>
                </a:solidFill>
                <a:latin typeface="Merriweather"/>
                <a:ea typeface="Merriweather"/>
                <a:cs typeface="Merriweather"/>
                <a:sym typeface="Merriweather"/>
              </a:rPr>
              <a:t>EXISTING SYSTEM</a:t>
            </a:r>
            <a:endParaRPr sz="2500" b="0" i="0" u="none" strike="noStrike" cap="none">
              <a:solidFill>
                <a:schemeClr val="lt1"/>
              </a:solidFill>
              <a:latin typeface="Merriweather"/>
              <a:ea typeface="Merriweather"/>
              <a:cs typeface="Merriweather"/>
              <a:sym typeface="Merriweather"/>
            </a:endParaRPr>
          </a:p>
        </p:txBody>
      </p:sp>
      <p:pic>
        <p:nvPicPr>
          <p:cNvPr id="195" name="Google Shape;195;p7"/>
          <p:cNvPicPr preferRelativeResize="0"/>
          <p:nvPr/>
        </p:nvPicPr>
        <p:blipFill rotWithShape="1">
          <a:blip r:embed="rId4">
            <a:alphaModFix/>
          </a:blip>
          <a:srcRect/>
          <a:stretch/>
        </p:blipFill>
        <p:spPr>
          <a:xfrm>
            <a:off x="121850" y="1564647"/>
            <a:ext cx="3794075" cy="2524304"/>
          </a:xfrm>
          <a:prstGeom prst="rect">
            <a:avLst/>
          </a:prstGeom>
          <a:noFill/>
          <a:ln>
            <a:noFill/>
          </a:ln>
        </p:spPr>
      </p:pic>
      <p:graphicFrame>
        <p:nvGraphicFramePr>
          <p:cNvPr id="196" name="Google Shape;196;p7"/>
          <p:cNvGraphicFramePr/>
          <p:nvPr/>
        </p:nvGraphicFramePr>
        <p:xfrm>
          <a:off x="4387425" y="1977438"/>
          <a:ext cx="4091800" cy="1188630"/>
        </p:xfrm>
        <a:graphic>
          <a:graphicData uri="http://schemas.openxmlformats.org/drawingml/2006/table">
            <a:tbl>
              <a:tblPr>
                <a:noFill/>
                <a:tableStyleId>{5C467FC6-CA59-4B7A-9D0F-6C8D04829015}</a:tableStyleId>
              </a:tblPr>
              <a:tblGrid>
                <a:gridCol w="2045900">
                  <a:extLst>
                    <a:ext uri="{9D8B030D-6E8A-4147-A177-3AD203B41FA5}">
                      <a16:colId xmlns:a16="http://schemas.microsoft.com/office/drawing/2014/main" val="20000"/>
                    </a:ext>
                  </a:extLst>
                </a:gridCol>
                <a:gridCol w="2045900">
                  <a:extLst>
                    <a:ext uri="{9D8B030D-6E8A-4147-A177-3AD203B41FA5}">
                      <a16:colId xmlns:a16="http://schemas.microsoft.com/office/drawing/2014/main" val="20001"/>
                    </a:ext>
                  </a:extLst>
                </a:gridCol>
              </a:tblGrid>
              <a:tr h="285750">
                <a:tc>
                  <a:txBody>
                    <a:bodyPr/>
                    <a:lstStyle/>
                    <a:p>
                      <a:pPr marL="0" marR="0" lvl="0" indent="0" algn="ctr" rtl="0">
                        <a:lnSpc>
                          <a:spcPct val="100000"/>
                        </a:lnSpc>
                        <a:spcBef>
                          <a:spcPts val="0"/>
                        </a:spcBef>
                        <a:spcAft>
                          <a:spcPts val="0"/>
                        </a:spcAft>
                        <a:buClr>
                          <a:srgbClr val="000000"/>
                        </a:buClr>
                        <a:buSzPts val="1400"/>
                        <a:buFont typeface="Arial"/>
                        <a:buNone/>
                      </a:pPr>
                      <a:r>
                        <a:rPr lang="en-GB" sz="1400" u="none" strike="noStrike" cap="none"/>
                        <a:t>System</a:t>
                      </a:r>
                      <a:endParaRPr sz="1400" u="none" strike="noStrike" cap="none"/>
                    </a:p>
                  </a:txBody>
                  <a:tcPr marL="91425" marR="91425" marT="91425" marB="91425">
                    <a:no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GB" sz="1400" u="none" strike="noStrike" cap="none"/>
                        <a:t>Accuracy(%)</a:t>
                      </a:r>
                      <a:endParaRPr sz="1400" u="none" strike="noStrike" cap="none"/>
                    </a:p>
                  </a:txBody>
                  <a:tcPr marL="91425" marR="91425" marT="91425" marB="91425">
                    <a:noFill/>
                  </a:tcPr>
                </a:tc>
                <a:extLst>
                  <a:ext uri="{0D108BD9-81ED-4DB2-BD59-A6C34878D82A}">
                    <a16:rowId xmlns:a16="http://schemas.microsoft.com/office/drawing/2014/main" val="10000"/>
                  </a:ext>
                </a:extLst>
              </a:tr>
              <a:tr h="285750">
                <a:tc>
                  <a:txBody>
                    <a:bodyPr/>
                    <a:lstStyle/>
                    <a:p>
                      <a:pPr marL="0" marR="0" lvl="0" indent="0" algn="ctr" rtl="0">
                        <a:lnSpc>
                          <a:spcPct val="100000"/>
                        </a:lnSpc>
                        <a:spcBef>
                          <a:spcPts val="0"/>
                        </a:spcBef>
                        <a:spcAft>
                          <a:spcPts val="0"/>
                        </a:spcAft>
                        <a:buClr>
                          <a:srgbClr val="000000"/>
                        </a:buClr>
                        <a:buSzPts val="1400"/>
                        <a:buFont typeface="Arial"/>
                        <a:buNone/>
                      </a:pPr>
                      <a:r>
                        <a:rPr lang="en-GB" sz="1400" u="none" strike="noStrike" cap="none"/>
                        <a:t>SVM </a:t>
                      </a:r>
                      <a:endParaRPr sz="1400" u="none" strike="noStrike" cap="none"/>
                    </a:p>
                  </a:txBody>
                  <a:tcPr marL="91425" marR="91425" marT="91425" marB="91425">
                    <a:no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GB" sz="1400" u="none" strike="noStrike" cap="none"/>
                        <a:t>90</a:t>
                      </a:r>
                      <a:endParaRPr sz="1400" u="none" strike="noStrike" cap="none"/>
                    </a:p>
                  </a:txBody>
                  <a:tcPr marL="91425" marR="91425" marT="91425" marB="91425">
                    <a:noFill/>
                  </a:tcPr>
                </a:tc>
                <a:extLst>
                  <a:ext uri="{0D108BD9-81ED-4DB2-BD59-A6C34878D82A}">
                    <a16:rowId xmlns:a16="http://schemas.microsoft.com/office/drawing/2014/main" val="10001"/>
                  </a:ext>
                </a:extLst>
              </a:tr>
              <a:tr h="285750">
                <a:tc>
                  <a:txBody>
                    <a:bodyPr/>
                    <a:lstStyle/>
                    <a:p>
                      <a:pPr marL="0" marR="0" lvl="0" indent="0" algn="ctr" rtl="0">
                        <a:lnSpc>
                          <a:spcPct val="100000"/>
                        </a:lnSpc>
                        <a:spcBef>
                          <a:spcPts val="0"/>
                        </a:spcBef>
                        <a:spcAft>
                          <a:spcPts val="0"/>
                        </a:spcAft>
                        <a:buClr>
                          <a:srgbClr val="000000"/>
                        </a:buClr>
                        <a:buSzPts val="1400"/>
                        <a:buFont typeface="Arial"/>
                        <a:buNone/>
                      </a:pPr>
                      <a:r>
                        <a:rPr lang="en-GB" sz="1400" u="none" strike="noStrike" cap="none"/>
                        <a:t>NMD</a:t>
                      </a:r>
                      <a:endParaRPr sz="1400" u="none" strike="noStrike" cap="none"/>
                    </a:p>
                  </a:txBody>
                  <a:tcPr marL="91425" marR="91425" marT="91425" marB="91425">
                    <a:no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GB" sz="1400" u="none" strike="noStrike" cap="none"/>
                        <a:t>35</a:t>
                      </a:r>
                      <a:endParaRPr sz="1400" u="none" strike="noStrike" cap="none"/>
                    </a:p>
                  </a:txBody>
                  <a:tcPr marL="91425" marR="91425" marT="91425" marB="91425">
                    <a:noFill/>
                  </a:tcPr>
                </a:tc>
                <a:extLst>
                  <a:ext uri="{0D108BD9-81ED-4DB2-BD59-A6C34878D82A}">
                    <a16:rowId xmlns:a16="http://schemas.microsoft.com/office/drawing/2014/main" val="10002"/>
                  </a:ext>
                </a:extLst>
              </a:tr>
            </a:tbl>
          </a:graphicData>
        </a:graphic>
      </p:graphicFrame>
      <p:sp>
        <p:nvSpPr>
          <p:cNvPr id="197" name="Google Shape;197;p7"/>
          <p:cNvSpPr txBox="1"/>
          <p:nvPr/>
        </p:nvSpPr>
        <p:spPr>
          <a:xfrm>
            <a:off x="4338875" y="1560375"/>
            <a:ext cx="4188900" cy="63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b="1" i="1" u="sng" strike="noStrike" cap="none">
                <a:solidFill>
                  <a:schemeClr val="dk1"/>
                </a:solidFill>
                <a:latin typeface="Arial"/>
                <a:ea typeface="Arial"/>
                <a:cs typeface="Arial"/>
                <a:sym typeface="Arial"/>
              </a:rPr>
              <a:t>Performance comparison of SVM and NMD</a:t>
            </a:r>
            <a:endParaRPr sz="1500" b="1" i="1" u="sng" strike="noStrike" cap="none">
              <a:solidFill>
                <a:schemeClr val="dk1"/>
              </a:solidFill>
              <a:latin typeface="Arial"/>
              <a:ea typeface="Arial"/>
              <a:cs typeface="Arial"/>
              <a:sym typeface="Arial"/>
            </a:endParaRPr>
          </a:p>
        </p:txBody>
      </p:sp>
      <p:sp>
        <p:nvSpPr>
          <p:cNvPr id="198" name="Google Shape;198;p7"/>
          <p:cNvSpPr txBox="1"/>
          <p:nvPr/>
        </p:nvSpPr>
        <p:spPr>
          <a:xfrm>
            <a:off x="121850" y="4754246"/>
            <a:ext cx="884587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600">
                <a:solidFill>
                  <a:schemeClr val="dk2"/>
                </a:solidFill>
              </a:rPr>
              <a:t>23/01/2026</a:t>
            </a:r>
            <a:r>
              <a:rPr lang="en-GB" sz="1600" b="0" i="0" u="none" strike="noStrike" cap="none">
                <a:solidFill>
                  <a:schemeClr val="dk2"/>
                </a:solidFill>
                <a:latin typeface="Arial"/>
                <a:ea typeface="Arial"/>
                <a:cs typeface="Arial"/>
                <a:sym typeface="Arial"/>
              </a:rPr>
              <a:t>				</a:t>
            </a:r>
            <a:r>
              <a:rPr lang="en-GB" sz="1400" b="0" i="0" u="none" strike="noStrike" cap="none">
                <a:solidFill>
                  <a:schemeClr val="dk1"/>
                </a:solidFill>
                <a:latin typeface="Arial"/>
                <a:ea typeface="Arial"/>
                <a:cs typeface="Arial"/>
                <a:sym typeface="Arial"/>
              </a:rPr>
              <a:t>Department of Computer Science and Engineering</a:t>
            </a:r>
            <a:endParaRPr sz="2000" b="0" i="0" u="none" strike="noStrike" cap="none">
              <a:solidFill>
                <a:schemeClr val="dk2"/>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15</a:t>
            </a:fld>
            <a:endParaRPr/>
          </a:p>
        </p:txBody>
      </p:sp>
      <p:pic>
        <p:nvPicPr>
          <p:cNvPr id="204" name="Google Shape;204;p8" descr="logo.png"/>
          <p:cNvPicPr preferRelativeResize="0"/>
          <p:nvPr/>
        </p:nvPicPr>
        <p:blipFill rotWithShape="1">
          <a:blip r:embed="rId3">
            <a:alphaModFix/>
          </a:blip>
          <a:srcRect/>
          <a:stretch/>
        </p:blipFill>
        <p:spPr>
          <a:xfrm>
            <a:off x="201221" y="133128"/>
            <a:ext cx="928695" cy="857256"/>
          </a:xfrm>
          <a:prstGeom prst="rect">
            <a:avLst/>
          </a:prstGeom>
          <a:noFill/>
          <a:ln>
            <a:noFill/>
          </a:ln>
        </p:spPr>
      </p:pic>
      <p:sp>
        <p:nvSpPr>
          <p:cNvPr id="205" name="Google Shape;205;p8"/>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206" name="Google Shape;206;p8"/>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000"/>
              <a:buFont typeface="Arial"/>
              <a:buNone/>
            </a:pPr>
            <a:r>
              <a:rPr lang="en-GB" sz="3000" b="0" i="0" u="none" strike="noStrike" cap="none">
                <a:solidFill>
                  <a:schemeClr val="lt1"/>
                </a:solidFill>
                <a:latin typeface="Merriweather"/>
                <a:ea typeface="Merriweather"/>
                <a:cs typeface="Merriweather"/>
                <a:sym typeface="Merriweather"/>
              </a:rPr>
              <a:t>Existing System</a:t>
            </a:r>
            <a:endParaRPr sz="2500" b="0" i="0" u="none" strike="noStrike" cap="none">
              <a:solidFill>
                <a:schemeClr val="lt1"/>
              </a:solidFill>
              <a:latin typeface="Merriweather"/>
              <a:ea typeface="Merriweather"/>
              <a:cs typeface="Merriweather"/>
              <a:sym typeface="Merriweather"/>
            </a:endParaRPr>
          </a:p>
        </p:txBody>
      </p:sp>
      <p:sp>
        <p:nvSpPr>
          <p:cNvPr id="207" name="Google Shape;207;p8"/>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208" name="Google Shape;208;p8"/>
          <p:cNvSpPr txBox="1"/>
          <p:nvPr/>
        </p:nvSpPr>
        <p:spPr>
          <a:xfrm>
            <a:off x="117300" y="1128675"/>
            <a:ext cx="8796900" cy="3419100"/>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00000"/>
              </a:lnSpc>
              <a:spcBef>
                <a:spcPts val="0"/>
              </a:spcBef>
              <a:spcAft>
                <a:spcPts val="0"/>
              </a:spcAft>
              <a:buClr>
                <a:schemeClr val="dk2"/>
              </a:buClr>
              <a:buSzPts val="1800"/>
              <a:buFont typeface="Noto Sans Symbols"/>
              <a:buChar char="⮚"/>
            </a:pPr>
            <a:r>
              <a:rPr lang="en-GB" sz="1800" b="0" i="0" u="none" strike="noStrike" cap="none">
                <a:solidFill>
                  <a:srgbClr val="0C0C0C"/>
                </a:solidFill>
                <a:latin typeface="Times New Roman"/>
                <a:ea typeface="Times New Roman"/>
                <a:cs typeface="Times New Roman"/>
                <a:sym typeface="Times New Roman"/>
              </a:rPr>
              <a:t>The existing methods for diagnosing Alzheimer’s disease primarily involve clinical examinations such as MMSE and CDR, medical imaging like MRI, and advanced scans such as PET and SPECT.</a:t>
            </a:r>
            <a:endParaRPr sz="1800" b="0" i="0" u="none" strike="noStrike" cap="none">
              <a:solidFill>
                <a:srgbClr val="0C0C0C"/>
              </a:solidFill>
              <a:latin typeface="Times New Roman"/>
              <a:ea typeface="Times New Roman"/>
              <a:cs typeface="Times New Roman"/>
              <a:sym typeface="Times New Roman"/>
            </a:endParaRPr>
          </a:p>
          <a:p>
            <a:pPr marL="457200" marR="0" lvl="0" indent="-342900" algn="just" rtl="0">
              <a:lnSpc>
                <a:spcPct val="100000"/>
              </a:lnSpc>
              <a:spcBef>
                <a:spcPts val="0"/>
              </a:spcBef>
              <a:spcAft>
                <a:spcPts val="0"/>
              </a:spcAft>
              <a:buClr>
                <a:schemeClr val="dk2"/>
              </a:buClr>
              <a:buSzPts val="1800"/>
              <a:buFont typeface="Noto Sans Symbols"/>
              <a:buChar char="⮚"/>
            </a:pPr>
            <a:r>
              <a:rPr lang="en-GB" sz="1800" b="0" i="0" u="none" strike="noStrike" cap="none">
                <a:solidFill>
                  <a:srgbClr val="0C0C0C"/>
                </a:solidFill>
                <a:latin typeface="Times New Roman"/>
                <a:ea typeface="Times New Roman"/>
                <a:cs typeface="Times New Roman"/>
                <a:sym typeface="Times New Roman"/>
              </a:rPr>
              <a:t>While these methods can provide useful results, they come with significant limitations.</a:t>
            </a:r>
            <a:endParaRPr sz="1800" b="0" i="0" u="none" strike="noStrike" cap="none">
              <a:solidFill>
                <a:srgbClr val="0C0C0C"/>
              </a:solidFill>
              <a:latin typeface="Times New Roman"/>
              <a:ea typeface="Times New Roman"/>
              <a:cs typeface="Times New Roman"/>
              <a:sym typeface="Times New Roman"/>
            </a:endParaRPr>
          </a:p>
          <a:p>
            <a:pPr marL="457200" marR="0" lvl="0" indent="-342900" algn="just" rtl="0">
              <a:lnSpc>
                <a:spcPct val="100000"/>
              </a:lnSpc>
              <a:spcBef>
                <a:spcPts val="0"/>
              </a:spcBef>
              <a:spcAft>
                <a:spcPts val="0"/>
              </a:spcAft>
              <a:buClr>
                <a:schemeClr val="dk2"/>
              </a:buClr>
              <a:buSzPts val="1800"/>
              <a:buFont typeface="Noto Sans Symbols"/>
              <a:buChar char="⮚"/>
            </a:pPr>
            <a:r>
              <a:rPr lang="en-GB" sz="1800" b="0" i="0" u="none" strike="noStrike" cap="none">
                <a:solidFill>
                  <a:srgbClr val="0C0C0C"/>
                </a:solidFill>
                <a:latin typeface="Times New Roman"/>
                <a:ea typeface="Times New Roman"/>
                <a:cs typeface="Times New Roman"/>
                <a:sym typeface="Times New Roman"/>
              </a:rPr>
              <a:t>PET and SPECT impose radiation risks, while MRI, though accurate, is expensive and not always accessible.</a:t>
            </a:r>
            <a:endParaRPr sz="1800" b="0" i="0" u="none" strike="noStrike" cap="none">
              <a:solidFill>
                <a:srgbClr val="0C0C0C"/>
              </a:solidFill>
              <a:latin typeface="Times New Roman"/>
              <a:ea typeface="Times New Roman"/>
              <a:cs typeface="Times New Roman"/>
              <a:sym typeface="Times New Roman"/>
            </a:endParaRPr>
          </a:p>
          <a:p>
            <a:pPr marL="457200" marR="0" lvl="0" indent="-342900" algn="just" rtl="0">
              <a:lnSpc>
                <a:spcPct val="100000"/>
              </a:lnSpc>
              <a:spcBef>
                <a:spcPts val="0"/>
              </a:spcBef>
              <a:spcAft>
                <a:spcPts val="0"/>
              </a:spcAft>
              <a:buClr>
                <a:schemeClr val="dk2"/>
              </a:buClr>
              <a:buSzPts val="1800"/>
              <a:buFont typeface="Noto Sans Symbols"/>
              <a:buChar char="⮚"/>
            </a:pPr>
            <a:r>
              <a:rPr lang="en-GB" sz="1800" b="0" i="0" u="none" strike="noStrike" cap="none">
                <a:solidFill>
                  <a:srgbClr val="0C0C0C"/>
                </a:solidFill>
                <a:latin typeface="Times New Roman"/>
                <a:ea typeface="Times New Roman"/>
                <a:cs typeface="Times New Roman"/>
                <a:sym typeface="Times New Roman"/>
              </a:rPr>
              <a:t>MMSE and CDR are widely used but have limited accuracy in detecting patients at early stages of the disease.</a:t>
            </a:r>
            <a:endParaRPr sz="1800" b="0" i="0" u="none" strike="noStrike" cap="none">
              <a:solidFill>
                <a:srgbClr val="0C0C0C"/>
              </a:solidFill>
              <a:latin typeface="Times New Roman"/>
              <a:ea typeface="Times New Roman"/>
              <a:cs typeface="Times New Roman"/>
              <a:sym typeface="Times New Roman"/>
            </a:endParaRPr>
          </a:p>
          <a:p>
            <a:pPr marL="457200" marR="0" lvl="0" indent="-342900" algn="just" rtl="0">
              <a:lnSpc>
                <a:spcPct val="100000"/>
              </a:lnSpc>
              <a:spcBef>
                <a:spcPts val="0"/>
              </a:spcBef>
              <a:spcAft>
                <a:spcPts val="0"/>
              </a:spcAft>
              <a:buClr>
                <a:schemeClr val="dk2"/>
              </a:buClr>
              <a:buSzPts val="1800"/>
              <a:buFont typeface="Noto Sans Symbols"/>
              <a:buChar char="⮚"/>
            </a:pPr>
            <a:r>
              <a:rPr lang="en-GB" sz="1800" b="0" i="0" u="none" strike="noStrike" cap="none">
                <a:solidFill>
                  <a:srgbClr val="0C0C0C"/>
                </a:solidFill>
                <a:latin typeface="Times New Roman"/>
                <a:ea typeface="Times New Roman"/>
                <a:cs typeface="Times New Roman"/>
                <a:sym typeface="Times New Roman"/>
              </a:rPr>
              <a:t>Research has shown that EEG analysis can provide important insights into brain function in Alzheimer’s patients. </a:t>
            </a:r>
            <a:endParaRPr/>
          </a:p>
          <a:p>
            <a:pPr marL="457200" marR="0" lvl="0" indent="-342900" algn="just" rtl="0">
              <a:lnSpc>
                <a:spcPct val="100000"/>
              </a:lnSpc>
              <a:spcBef>
                <a:spcPts val="0"/>
              </a:spcBef>
              <a:spcAft>
                <a:spcPts val="0"/>
              </a:spcAft>
              <a:buClr>
                <a:schemeClr val="dk2"/>
              </a:buClr>
              <a:buSzPts val="1800"/>
              <a:buFont typeface="Noto Sans Symbols"/>
              <a:buChar char="⮚"/>
            </a:pPr>
            <a:r>
              <a:rPr lang="en-GB" sz="1800" b="0" i="0" u="none" strike="noStrike" cap="none">
                <a:solidFill>
                  <a:schemeClr val="dk1"/>
                </a:solidFill>
                <a:latin typeface="Times New Roman"/>
                <a:ea typeface="Times New Roman"/>
                <a:cs typeface="Times New Roman"/>
                <a:sym typeface="Times New Roman"/>
              </a:rPr>
              <a:t>Patterns such as the slowing of EEG signals, reduced complexity, and changes in synchrony have been observed in patients compared to healthy individuals.</a:t>
            </a:r>
            <a:endParaRPr/>
          </a:p>
          <a:p>
            <a:pPr marL="114300" marR="0" lvl="0" indent="0" algn="just" rtl="0">
              <a:lnSpc>
                <a:spcPct val="100000"/>
              </a:lnSpc>
              <a:spcBef>
                <a:spcPts val="0"/>
              </a:spcBef>
              <a:spcAft>
                <a:spcPts val="0"/>
              </a:spcAft>
              <a:buNone/>
            </a:pPr>
            <a:endParaRPr sz="1800" b="0" i="0" u="none" strike="noStrike" cap="none">
              <a:solidFill>
                <a:srgbClr val="0C0C0C"/>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700"/>
              <a:buFont typeface="Arial"/>
              <a:buNone/>
            </a:pPr>
            <a:endParaRPr sz="1700" b="0" i="0" u="none" strike="noStrike" cap="non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g3ae73a251e8_0_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16</a:t>
            </a:fld>
            <a:endParaRPr/>
          </a:p>
        </p:txBody>
      </p:sp>
      <p:pic>
        <p:nvPicPr>
          <p:cNvPr id="214" name="Google Shape;214;g3ae73a251e8_0_35" descr="logo.png"/>
          <p:cNvPicPr preferRelativeResize="0"/>
          <p:nvPr/>
        </p:nvPicPr>
        <p:blipFill rotWithShape="1">
          <a:blip r:embed="rId3">
            <a:alphaModFix/>
          </a:blip>
          <a:srcRect/>
          <a:stretch/>
        </p:blipFill>
        <p:spPr>
          <a:xfrm>
            <a:off x="201221" y="133128"/>
            <a:ext cx="928695" cy="857256"/>
          </a:xfrm>
          <a:prstGeom prst="rect">
            <a:avLst/>
          </a:prstGeom>
          <a:noFill/>
          <a:ln>
            <a:noFill/>
          </a:ln>
        </p:spPr>
      </p:pic>
      <p:sp>
        <p:nvSpPr>
          <p:cNvPr id="215" name="Google Shape;215;g3ae73a251e8_0_35"/>
          <p:cNvSpPr txBox="1"/>
          <p:nvPr/>
        </p:nvSpPr>
        <p:spPr>
          <a:xfrm>
            <a:off x="1235100" y="0"/>
            <a:ext cx="7908900" cy="11235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216" name="Google Shape;216;g3ae73a251e8_0_35"/>
          <p:cNvSpPr txBox="1"/>
          <p:nvPr/>
        </p:nvSpPr>
        <p:spPr>
          <a:xfrm>
            <a:off x="1243950" y="50700"/>
            <a:ext cx="7891200" cy="10221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800"/>
              <a:buFont typeface="Arial"/>
              <a:buNone/>
            </a:pPr>
            <a:r>
              <a:rPr lang="en-GB" sz="3800">
                <a:solidFill>
                  <a:schemeClr val="lt1"/>
                </a:solidFill>
                <a:latin typeface="Georgia"/>
                <a:ea typeface="Georgia"/>
                <a:cs typeface="Georgia"/>
                <a:sym typeface="Georgia"/>
              </a:rPr>
              <a:t>GAP ANALYSIS</a:t>
            </a:r>
            <a:endParaRPr sz="3700" b="0" i="0" u="none" strike="noStrike" cap="none">
              <a:solidFill>
                <a:schemeClr val="lt1"/>
              </a:solidFill>
              <a:latin typeface="Georgia"/>
              <a:ea typeface="Georgia"/>
              <a:cs typeface="Georgia"/>
              <a:sym typeface="Georgia"/>
            </a:endParaRPr>
          </a:p>
        </p:txBody>
      </p:sp>
      <p:sp>
        <p:nvSpPr>
          <p:cNvPr id="217" name="Google Shape;217;g3ae73a251e8_0_35"/>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218" name="Google Shape;218;g3ae73a251e8_0_35"/>
          <p:cNvSpPr txBox="1"/>
          <p:nvPr/>
        </p:nvSpPr>
        <p:spPr>
          <a:xfrm>
            <a:off x="334000" y="1262600"/>
            <a:ext cx="8687100" cy="3239700"/>
          </a:xfrm>
          <a:prstGeom prst="rect">
            <a:avLst/>
          </a:prstGeom>
          <a:noFill/>
          <a:ln>
            <a:noFill/>
          </a:ln>
        </p:spPr>
        <p:txBody>
          <a:bodyPr spcFirstLastPara="1" wrap="square" lIns="91425" tIns="91425" rIns="91425" bIns="91425" anchor="t" anchorCtr="0">
            <a:noAutofit/>
          </a:bodyPr>
          <a:lstStyle/>
          <a:p>
            <a:pPr marL="88900" marR="0" lvl="0" indent="0" algn="l" rtl="0">
              <a:lnSpc>
                <a:spcPct val="100000"/>
              </a:lnSpc>
              <a:spcBef>
                <a:spcPts val="0"/>
              </a:spcBef>
              <a:spcAft>
                <a:spcPts val="0"/>
              </a:spcAft>
              <a:buNone/>
            </a:pPr>
            <a:r>
              <a:rPr lang="en-GB" sz="2100" b="1" u="sng">
                <a:solidFill>
                  <a:schemeClr val="dk2"/>
                </a:solidFill>
                <a:latin typeface="Times New Roman"/>
                <a:ea typeface="Times New Roman"/>
                <a:cs typeface="Times New Roman"/>
                <a:sym typeface="Times New Roman"/>
              </a:rPr>
              <a:t>Drawbacks of existing Methodogies:</a:t>
            </a:r>
            <a:endParaRPr sz="2100" b="1" u="sng">
              <a:solidFill>
                <a:schemeClr val="dk2"/>
              </a:solidFill>
              <a:latin typeface="Times New Roman"/>
              <a:ea typeface="Times New Roman"/>
              <a:cs typeface="Times New Roman"/>
              <a:sym typeface="Times New Roman"/>
            </a:endParaRPr>
          </a:p>
          <a:p>
            <a:pPr marL="457200" marR="0" lvl="0" indent="-349250" algn="l" rtl="0">
              <a:lnSpc>
                <a:spcPct val="100000"/>
              </a:lnSpc>
              <a:spcBef>
                <a:spcPts val="0"/>
              </a:spcBef>
              <a:spcAft>
                <a:spcPts val="0"/>
              </a:spcAft>
              <a:buClr>
                <a:schemeClr val="dk2"/>
              </a:buClr>
              <a:buSzPts val="1900"/>
              <a:buFont typeface="Times New Roman"/>
              <a:buAutoNum type="arabicPeriod"/>
            </a:pPr>
            <a:r>
              <a:rPr lang="en-GB" sz="2000">
                <a:solidFill>
                  <a:schemeClr val="dk1"/>
                </a:solidFill>
                <a:latin typeface="Times New Roman"/>
                <a:ea typeface="Times New Roman"/>
                <a:cs typeface="Times New Roman"/>
                <a:sym typeface="Times New Roman"/>
              </a:rPr>
              <a:t>MRI is costly procedure and it could also lead to radiation risks</a:t>
            </a:r>
            <a:endParaRPr sz="2000">
              <a:solidFill>
                <a:schemeClr val="dk1"/>
              </a:solidFill>
              <a:latin typeface="Times New Roman"/>
              <a:ea typeface="Times New Roman"/>
              <a:cs typeface="Times New Roman"/>
              <a:sym typeface="Times New Roman"/>
            </a:endParaRPr>
          </a:p>
          <a:p>
            <a:pPr marL="457200" lvl="0" indent="-355600" algn="just" rtl="0">
              <a:lnSpc>
                <a:spcPct val="100000"/>
              </a:lnSpc>
              <a:spcBef>
                <a:spcPts val="0"/>
              </a:spcBef>
              <a:spcAft>
                <a:spcPts val="0"/>
              </a:spcAft>
              <a:buClr>
                <a:schemeClr val="dk1"/>
              </a:buClr>
              <a:buSzPts val="2000"/>
              <a:buFont typeface="Times New Roman"/>
              <a:buAutoNum type="arabicPeriod"/>
            </a:pPr>
            <a:r>
              <a:rPr lang="en-GB" sz="2000">
                <a:solidFill>
                  <a:schemeClr val="dk1"/>
                </a:solidFill>
                <a:latin typeface="Times New Roman"/>
                <a:ea typeface="Times New Roman"/>
                <a:cs typeface="Times New Roman"/>
                <a:sym typeface="Times New Roman"/>
              </a:rPr>
              <a:t>Missing data issues, reliance on threshold-based classification, limited generalization of assumptions, and absence of longitudinal imaging.</a:t>
            </a:r>
            <a:endParaRPr sz="2000">
              <a:solidFill>
                <a:schemeClr val="dk1"/>
              </a:solidFill>
              <a:latin typeface="Times New Roman"/>
              <a:ea typeface="Times New Roman"/>
              <a:cs typeface="Times New Roman"/>
              <a:sym typeface="Times New Roman"/>
            </a:endParaRPr>
          </a:p>
          <a:p>
            <a:pPr marL="457200" lvl="0" indent="-355600" algn="just" rtl="0">
              <a:lnSpc>
                <a:spcPct val="100000"/>
              </a:lnSpc>
              <a:spcBef>
                <a:spcPts val="0"/>
              </a:spcBef>
              <a:spcAft>
                <a:spcPts val="0"/>
              </a:spcAft>
              <a:buClr>
                <a:schemeClr val="dk1"/>
              </a:buClr>
              <a:buSzPts val="2000"/>
              <a:buFont typeface="Times New Roman"/>
              <a:buAutoNum type="arabicPeriod"/>
            </a:pPr>
            <a:r>
              <a:rPr lang="en-GB" sz="2000">
                <a:solidFill>
                  <a:schemeClr val="dk1"/>
                </a:solidFill>
                <a:latin typeface="Times New Roman"/>
                <a:ea typeface="Times New Roman"/>
                <a:cs typeface="Times New Roman"/>
                <a:sym typeface="Times New Roman"/>
              </a:rPr>
              <a:t>Small dataset size and reliance on manual preprocessing limit generalization; lower performance with medium and low-density electrode sets.</a:t>
            </a:r>
            <a:endParaRPr sz="2000">
              <a:solidFill>
                <a:schemeClr val="dk1"/>
              </a:solidFill>
              <a:latin typeface="Times New Roman"/>
              <a:ea typeface="Times New Roman"/>
              <a:cs typeface="Times New Roman"/>
              <a:sym typeface="Times New Roman"/>
            </a:endParaRPr>
          </a:p>
          <a:p>
            <a:pPr marL="457200" lvl="0" indent="0" algn="just" rtl="0">
              <a:lnSpc>
                <a:spcPct val="150000"/>
              </a:lnSpc>
              <a:spcBef>
                <a:spcPts val="0"/>
              </a:spcBef>
              <a:spcAft>
                <a:spcPts val="0"/>
              </a:spcAft>
              <a:buNone/>
            </a:pP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17</a:t>
            </a:fld>
            <a:endParaRPr/>
          </a:p>
        </p:txBody>
      </p:sp>
      <p:pic>
        <p:nvPicPr>
          <p:cNvPr id="224" name="Google Shape;224;p9" descr="logo.png"/>
          <p:cNvPicPr preferRelativeResize="0"/>
          <p:nvPr/>
        </p:nvPicPr>
        <p:blipFill rotWithShape="1">
          <a:blip r:embed="rId3">
            <a:alphaModFix/>
          </a:blip>
          <a:srcRect/>
          <a:stretch/>
        </p:blipFill>
        <p:spPr>
          <a:xfrm>
            <a:off x="201221" y="133128"/>
            <a:ext cx="928695" cy="857256"/>
          </a:xfrm>
          <a:prstGeom prst="rect">
            <a:avLst/>
          </a:prstGeom>
          <a:noFill/>
          <a:ln>
            <a:noFill/>
          </a:ln>
        </p:spPr>
      </p:pic>
      <p:sp>
        <p:nvSpPr>
          <p:cNvPr id="225" name="Google Shape;225;p9"/>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226" name="Google Shape;226;p9"/>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000"/>
              <a:buFont typeface="Arial"/>
              <a:buNone/>
            </a:pPr>
            <a:r>
              <a:rPr lang="en-GB" sz="3000" b="0" i="0" u="none" strike="noStrike" cap="none">
                <a:solidFill>
                  <a:schemeClr val="lt1"/>
                </a:solidFill>
                <a:latin typeface="Merriweather"/>
                <a:ea typeface="Merriweather"/>
                <a:cs typeface="Merriweather"/>
                <a:sym typeface="Merriweather"/>
              </a:rPr>
              <a:t>PROPOSED  SYSTEM</a:t>
            </a:r>
            <a:endParaRPr sz="2500" b="0" i="0" u="none" strike="noStrike" cap="none">
              <a:solidFill>
                <a:schemeClr val="lt1"/>
              </a:solidFill>
              <a:latin typeface="Merriweather"/>
              <a:ea typeface="Merriweather"/>
              <a:cs typeface="Merriweather"/>
              <a:sym typeface="Merriweather"/>
            </a:endParaRPr>
          </a:p>
        </p:txBody>
      </p:sp>
      <p:sp>
        <p:nvSpPr>
          <p:cNvPr id="227" name="Google Shape;227;p9"/>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228" name="Google Shape;228;p9"/>
          <p:cNvSpPr txBox="1"/>
          <p:nvPr/>
        </p:nvSpPr>
        <p:spPr>
          <a:xfrm>
            <a:off x="117300" y="1128674"/>
            <a:ext cx="8796900" cy="3611575"/>
          </a:xfrm>
          <a:prstGeom prst="rect">
            <a:avLst/>
          </a:prstGeom>
          <a:noFill/>
          <a:ln>
            <a:noFill/>
          </a:ln>
        </p:spPr>
        <p:txBody>
          <a:bodyPr spcFirstLastPara="1" wrap="square" lIns="91425" tIns="91425" rIns="91425" bIns="91425" anchor="t" anchorCtr="0">
            <a:noAutofit/>
          </a:bodyPr>
          <a:lstStyle/>
          <a:p>
            <a:pPr marL="457200" marR="0" lvl="0" indent="-349250" algn="l" rtl="0">
              <a:lnSpc>
                <a:spcPct val="100000"/>
              </a:lnSpc>
              <a:spcBef>
                <a:spcPts val="1200"/>
              </a:spcBef>
              <a:spcAft>
                <a:spcPts val="0"/>
              </a:spcAft>
              <a:buClr>
                <a:schemeClr val="dk1"/>
              </a:buClr>
              <a:buSzPts val="1900"/>
              <a:buFont typeface="Times New Roman"/>
              <a:buChar char="⮚"/>
            </a:pPr>
            <a:r>
              <a:rPr lang="en-GB" sz="1900" i="0" u="none" strike="noStrike" cap="none">
                <a:solidFill>
                  <a:schemeClr val="dk1"/>
                </a:solidFill>
                <a:latin typeface="Times New Roman"/>
                <a:ea typeface="Times New Roman"/>
                <a:cs typeface="Times New Roman"/>
                <a:sym typeface="Times New Roman"/>
              </a:rPr>
              <a:t>The proposed system aims to address the shortcomings of existing methods by introducing a dual approach consisting of detection.</a:t>
            </a:r>
            <a:endParaRPr sz="1900">
              <a:latin typeface="Times New Roman"/>
              <a:ea typeface="Times New Roman"/>
              <a:cs typeface="Times New Roman"/>
              <a:sym typeface="Times New Roman"/>
            </a:endParaRPr>
          </a:p>
          <a:p>
            <a:pPr marL="457200" marR="0" lvl="0" indent="-349250" algn="l" rtl="0">
              <a:lnSpc>
                <a:spcPct val="100000"/>
              </a:lnSpc>
              <a:spcBef>
                <a:spcPts val="1200"/>
              </a:spcBef>
              <a:spcAft>
                <a:spcPts val="0"/>
              </a:spcAft>
              <a:buClr>
                <a:schemeClr val="dk1"/>
              </a:buClr>
              <a:buSzPts val="1900"/>
              <a:buFont typeface="Times New Roman"/>
              <a:buChar char="⮚"/>
            </a:pPr>
            <a:r>
              <a:rPr lang="en-GB" sz="1900" i="0" u="none" strike="noStrike" cap="none">
                <a:solidFill>
                  <a:schemeClr val="dk1"/>
                </a:solidFill>
                <a:latin typeface="Times New Roman"/>
                <a:ea typeface="Times New Roman"/>
                <a:cs typeface="Times New Roman"/>
                <a:sym typeface="Times New Roman"/>
              </a:rPr>
              <a:t>In this proposed system , we make use of below mentioned algorithms in order to achieve higher &amp; effective detection of Alzheimer’s disease in early stages.</a:t>
            </a:r>
            <a:endParaRPr sz="1900" i="0" u="none" strike="noStrike" cap="none">
              <a:solidFill>
                <a:schemeClr val="dk1"/>
              </a:solidFill>
              <a:latin typeface="Times New Roman"/>
              <a:ea typeface="Times New Roman"/>
              <a:cs typeface="Times New Roman"/>
              <a:sym typeface="Times New Roman"/>
            </a:endParaRPr>
          </a:p>
          <a:p>
            <a:pPr marL="457200" marR="0" lvl="0" indent="-349250" algn="l" rtl="0">
              <a:lnSpc>
                <a:spcPct val="100000"/>
              </a:lnSpc>
              <a:spcBef>
                <a:spcPts val="0"/>
              </a:spcBef>
              <a:spcAft>
                <a:spcPts val="0"/>
              </a:spcAft>
              <a:buClr>
                <a:schemeClr val="dk1"/>
              </a:buClr>
              <a:buSzPts val="1900"/>
              <a:buFont typeface="Times New Roman"/>
              <a:buChar char="⮚"/>
            </a:pPr>
            <a:r>
              <a:rPr lang="en-GB" sz="1900" i="0" u="none" strike="noStrike" cap="none">
                <a:solidFill>
                  <a:schemeClr val="dk1"/>
                </a:solidFill>
                <a:latin typeface="Times New Roman"/>
                <a:ea typeface="Times New Roman"/>
                <a:cs typeface="Times New Roman"/>
                <a:sym typeface="Times New Roman"/>
              </a:rPr>
              <a:t>Detection is carried out using EEG signals, which are processed to remove artifacts, and then analyzed through feature extraction and classification techniques.</a:t>
            </a:r>
            <a:endParaRPr sz="1900" i="0" u="none" strike="noStrike" cap="none">
              <a:solidFill>
                <a:schemeClr val="dk1"/>
              </a:solidFill>
              <a:latin typeface="Times New Roman"/>
              <a:ea typeface="Times New Roman"/>
              <a:cs typeface="Times New Roman"/>
              <a:sym typeface="Times New Roman"/>
            </a:endParaRPr>
          </a:p>
          <a:p>
            <a:pPr marL="133350" marR="0" lvl="0" indent="0" algn="l" rtl="0">
              <a:lnSpc>
                <a:spcPct val="100000"/>
              </a:lnSpc>
              <a:spcBef>
                <a:spcPts val="0"/>
              </a:spcBef>
              <a:spcAft>
                <a:spcPts val="0"/>
              </a:spcAft>
              <a:buNone/>
            </a:pPr>
            <a:r>
              <a:rPr lang="en-GB" sz="1900" b="1" i="0" u="sng" strike="noStrike" cap="none">
                <a:solidFill>
                  <a:schemeClr val="dk1"/>
                </a:solidFill>
                <a:latin typeface="Times New Roman"/>
                <a:ea typeface="Times New Roman"/>
                <a:cs typeface="Times New Roman"/>
                <a:sym typeface="Times New Roman"/>
              </a:rPr>
              <a:t>ALGORITHMS USED :</a:t>
            </a:r>
            <a:endParaRPr sz="1900">
              <a:latin typeface="Times New Roman"/>
              <a:ea typeface="Times New Roman"/>
              <a:cs typeface="Times New Roman"/>
              <a:sym typeface="Times New Roman"/>
            </a:endParaRPr>
          </a:p>
          <a:p>
            <a:pPr marL="457200" marR="0" lvl="0" indent="-349250" algn="l" rtl="0">
              <a:lnSpc>
                <a:spcPct val="100000"/>
              </a:lnSpc>
              <a:spcBef>
                <a:spcPts val="0"/>
              </a:spcBef>
              <a:spcAft>
                <a:spcPts val="0"/>
              </a:spcAft>
              <a:buClr>
                <a:schemeClr val="dk1"/>
              </a:buClr>
              <a:buSzPts val="1900"/>
              <a:buFont typeface="Times New Roman"/>
              <a:buChar char="⮚"/>
            </a:pPr>
            <a:r>
              <a:rPr lang="en-GB" sz="1900" i="0" u="none" strike="noStrike" cap="none">
                <a:solidFill>
                  <a:schemeClr val="dk1"/>
                </a:solidFill>
                <a:latin typeface="Times New Roman"/>
                <a:ea typeface="Times New Roman"/>
                <a:cs typeface="Times New Roman"/>
                <a:sym typeface="Times New Roman"/>
              </a:rPr>
              <a:t>Classical ML: XGBoost, Random Forests.</a:t>
            </a:r>
            <a:endParaRPr sz="1900">
              <a:latin typeface="Times New Roman"/>
              <a:ea typeface="Times New Roman"/>
              <a:cs typeface="Times New Roman"/>
              <a:sym typeface="Times New Roman"/>
            </a:endParaRPr>
          </a:p>
          <a:p>
            <a:pPr marL="457200" marR="0" lvl="0" indent="-349250" algn="l" rtl="0">
              <a:lnSpc>
                <a:spcPct val="100000"/>
              </a:lnSpc>
              <a:spcBef>
                <a:spcPts val="0"/>
              </a:spcBef>
              <a:spcAft>
                <a:spcPts val="0"/>
              </a:spcAft>
              <a:buClr>
                <a:schemeClr val="dk1"/>
              </a:buClr>
              <a:buSzPts val="1900"/>
              <a:buFont typeface="Times New Roman"/>
              <a:buChar char="⮚"/>
            </a:pPr>
            <a:r>
              <a:rPr lang="en-GB" sz="1900" i="0" u="none" strike="noStrike" cap="none">
                <a:solidFill>
                  <a:schemeClr val="dk1"/>
                </a:solidFill>
                <a:latin typeface="Times New Roman"/>
                <a:ea typeface="Times New Roman"/>
                <a:cs typeface="Times New Roman"/>
                <a:sym typeface="Times New Roman"/>
              </a:rPr>
              <a:t>Hybrid: Wavelet Scattering + XGBoost/Random Forest.</a:t>
            </a:r>
            <a:endParaRPr sz="1900">
              <a:latin typeface="Times New Roman"/>
              <a:ea typeface="Times New Roman"/>
              <a:cs typeface="Times New Roman"/>
              <a:sym typeface="Times New Roman"/>
            </a:endParaRPr>
          </a:p>
          <a:p>
            <a:pPr marL="457200" marR="0" lvl="0" indent="-349250" algn="l" rtl="0">
              <a:lnSpc>
                <a:spcPct val="100000"/>
              </a:lnSpc>
              <a:spcBef>
                <a:spcPts val="0"/>
              </a:spcBef>
              <a:spcAft>
                <a:spcPts val="0"/>
              </a:spcAft>
              <a:buClr>
                <a:schemeClr val="dk1"/>
              </a:buClr>
              <a:buSzPts val="1900"/>
              <a:buFont typeface="Times New Roman"/>
              <a:buChar char="⮚"/>
            </a:pPr>
            <a:r>
              <a:rPr lang="en-GB" sz="1900" i="0" u="none" strike="noStrike" cap="none">
                <a:solidFill>
                  <a:schemeClr val="dk1"/>
                </a:solidFill>
                <a:latin typeface="Times New Roman"/>
                <a:ea typeface="Times New Roman"/>
                <a:cs typeface="Times New Roman"/>
                <a:sym typeface="Times New Roman"/>
              </a:rPr>
              <a:t>Deep Learning: EEGNet (CNN), Temporal Convolutional Network (TCN).</a:t>
            </a:r>
            <a:endParaRPr sz="1900">
              <a:latin typeface="Times New Roman"/>
              <a:ea typeface="Times New Roman"/>
              <a:cs typeface="Times New Roman"/>
              <a:sym typeface="Times New Roman"/>
            </a:endParaRPr>
          </a:p>
          <a:p>
            <a:pPr marL="457200" marR="0" lvl="0" indent="-349250" algn="l" rtl="0">
              <a:lnSpc>
                <a:spcPct val="100000"/>
              </a:lnSpc>
              <a:spcBef>
                <a:spcPts val="0"/>
              </a:spcBef>
              <a:spcAft>
                <a:spcPts val="0"/>
              </a:spcAft>
              <a:buClr>
                <a:schemeClr val="dk1"/>
              </a:buClr>
              <a:buSzPts val="1900"/>
              <a:buFont typeface="Times New Roman"/>
              <a:buChar char="⮚"/>
            </a:pPr>
            <a:r>
              <a:rPr lang="en-GB" sz="1900" i="0" u="none" strike="noStrike" cap="none">
                <a:solidFill>
                  <a:schemeClr val="dk1"/>
                </a:solidFill>
                <a:latin typeface="Times New Roman"/>
                <a:ea typeface="Times New Roman"/>
                <a:cs typeface="Times New Roman"/>
                <a:sym typeface="Times New Roman"/>
              </a:rPr>
              <a:t>Meta-Learning: Stacking Ensemble combining best-performing models.</a:t>
            </a:r>
            <a:endParaRPr sz="1900">
              <a:latin typeface="Times New Roman"/>
              <a:ea typeface="Times New Roman"/>
              <a:cs typeface="Times New Roman"/>
              <a:sym typeface="Times New Roman"/>
            </a:endParaRPr>
          </a:p>
          <a:p>
            <a:pPr marL="457200" marR="0" lvl="0" indent="-228600" algn="l" rtl="0">
              <a:lnSpc>
                <a:spcPct val="100000"/>
              </a:lnSpc>
              <a:spcBef>
                <a:spcPts val="0"/>
              </a:spcBef>
              <a:spcAft>
                <a:spcPts val="0"/>
              </a:spcAft>
              <a:buClr>
                <a:schemeClr val="dk1"/>
              </a:buClr>
              <a:buSzPts val="1500"/>
              <a:buFont typeface="Noto Sans Symbols"/>
              <a:buNone/>
            </a:pPr>
            <a:endParaRPr sz="1900" i="0" u="none" strike="noStrike" cap="none">
              <a:solidFill>
                <a:schemeClr val="dk1"/>
              </a:solidFill>
              <a:latin typeface="Times New Roman"/>
              <a:ea typeface="Times New Roman"/>
              <a:cs typeface="Times New Roman"/>
              <a:sym typeface="Times New Roman"/>
            </a:endParaRPr>
          </a:p>
          <a:p>
            <a:pPr marL="457200" marR="0" lvl="0" indent="-228600" algn="l" rtl="0">
              <a:lnSpc>
                <a:spcPct val="100000"/>
              </a:lnSpc>
              <a:spcBef>
                <a:spcPts val="0"/>
              </a:spcBef>
              <a:spcAft>
                <a:spcPts val="0"/>
              </a:spcAft>
              <a:buClr>
                <a:schemeClr val="dk1"/>
              </a:buClr>
              <a:buSzPts val="1500"/>
              <a:buFont typeface="Noto Sans Symbols"/>
              <a:buNone/>
            </a:pPr>
            <a:endParaRPr sz="1900" i="0" u="none" strike="noStrike" cap="none">
              <a:solidFill>
                <a:schemeClr val="dk1"/>
              </a:solidFill>
              <a:latin typeface="Times New Roman"/>
              <a:ea typeface="Times New Roman"/>
              <a:cs typeface="Times New Roman"/>
              <a:sym typeface="Times New Roman"/>
            </a:endParaRPr>
          </a:p>
          <a:p>
            <a:pPr marL="285750" marR="0" lvl="0" indent="-190500" algn="l" rtl="0">
              <a:lnSpc>
                <a:spcPct val="100000"/>
              </a:lnSpc>
              <a:spcBef>
                <a:spcPts val="1200"/>
              </a:spcBef>
              <a:spcAft>
                <a:spcPts val="0"/>
              </a:spcAft>
              <a:buClr>
                <a:srgbClr val="000000"/>
              </a:buClr>
              <a:buSzPts val="1500"/>
              <a:buFont typeface="Noto Sans Symbols"/>
              <a:buNone/>
            </a:pPr>
            <a:endParaRPr sz="1900" i="0" u="none" strike="noStrike" cap="none">
              <a:solidFill>
                <a:schemeClr val="dk1"/>
              </a:solidFill>
              <a:latin typeface="Times New Roman"/>
              <a:ea typeface="Times New Roman"/>
              <a:cs typeface="Times New Roman"/>
              <a:sym typeface="Times New Roman"/>
            </a:endParaRPr>
          </a:p>
          <a:p>
            <a:pPr marL="285750" marR="0" lvl="0" indent="-184150" algn="l" rtl="0">
              <a:lnSpc>
                <a:spcPct val="100000"/>
              </a:lnSpc>
              <a:spcBef>
                <a:spcPts val="0"/>
              </a:spcBef>
              <a:spcAft>
                <a:spcPts val="0"/>
              </a:spcAft>
              <a:buClr>
                <a:srgbClr val="000000"/>
              </a:buClr>
              <a:buSzPts val="1600"/>
              <a:buFont typeface="Noto Sans Symbols"/>
              <a:buNone/>
            </a:pPr>
            <a:endParaRPr sz="190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18</a:t>
            </a:fld>
            <a:endParaRPr/>
          </a:p>
        </p:txBody>
      </p:sp>
      <p:pic>
        <p:nvPicPr>
          <p:cNvPr id="234" name="Google Shape;234;p10" descr="logo.png"/>
          <p:cNvPicPr preferRelativeResize="0"/>
          <p:nvPr/>
        </p:nvPicPr>
        <p:blipFill rotWithShape="1">
          <a:blip r:embed="rId3">
            <a:alphaModFix/>
          </a:blip>
          <a:srcRect/>
          <a:stretch/>
        </p:blipFill>
        <p:spPr>
          <a:xfrm>
            <a:off x="201221" y="133128"/>
            <a:ext cx="928695" cy="857256"/>
          </a:xfrm>
          <a:prstGeom prst="rect">
            <a:avLst/>
          </a:prstGeom>
          <a:noFill/>
          <a:ln>
            <a:noFill/>
          </a:ln>
        </p:spPr>
      </p:pic>
      <p:sp>
        <p:nvSpPr>
          <p:cNvPr id="235" name="Google Shape;235;p10"/>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236" name="Google Shape;236;p10"/>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000"/>
              <a:buFont typeface="Arial"/>
              <a:buNone/>
            </a:pPr>
            <a:r>
              <a:rPr lang="en-GB" sz="3000" b="0" i="0" u="none" strike="noStrike" cap="none">
                <a:solidFill>
                  <a:schemeClr val="lt1"/>
                </a:solidFill>
                <a:latin typeface="Merriweather"/>
                <a:ea typeface="Merriweather"/>
                <a:cs typeface="Merriweather"/>
                <a:sym typeface="Merriweather"/>
              </a:rPr>
              <a:t>PROPOSED  SYSTEM</a:t>
            </a:r>
            <a:endParaRPr sz="2500" b="0" i="0" u="none" strike="noStrike" cap="none">
              <a:solidFill>
                <a:schemeClr val="lt1"/>
              </a:solidFill>
              <a:latin typeface="Merriweather"/>
              <a:ea typeface="Merriweather"/>
              <a:cs typeface="Merriweather"/>
              <a:sym typeface="Merriweather"/>
            </a:endParaRPr>
          </a:p>
        </p:txBody>
      </p:sp>
      <p:sp>
        <p:nvSpPr>
          <p:cNvPr id="237" name="Google Shape;237;p10"/>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238" name="Google Shape;238;p10"/>
          <p:cNvSpPr txBox="1"/>
          <p:nvPr/>
        </p:nvSpPr>
        <p:spPr>
          <a:xfrm>
            <a:off x="117300" y="990384"/>
            <a:ext cx="8796900" cy="355739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GB" sz="1600" b="1" i="0" u="none" strike="noStrike" cap="none">
                <a:solidFill>
                  <a:schemeClr val="dk1"/>
                </a:solidFill>
                <a:latin typeface="Times New Roman"/>
                <a:ea typeface="Times New Roman"/>
                <a:cs typeface="Times New Roman"/>
                <a:sym typeface="Times New Roman"/>
              </a:rPr>
              <a:t>XGBoost</a:t>
            </a:r>
            <a:endParaRPr sz="1600" b="1" i="0" u="none" strike="noStrike" cap="none">
              <a:solidFill>
                <a:schemeClr val="dk1"/>
              </a:solidFill>
              <a:latin typeface="Times New Roman"/>
              <a:ea typeface="Times New Roman"/>
              <a:cs typeface="Times New Roman"/>
              <a:sym typeface="Times New Roman"/>
            </a:endParaRPr>
          </a:p>
          <a:p>
            <a:pPr marL="285750" marR="0" lvl="2" indent="-285750" algn="l" rtl="0">
              <a:lnSpc>
                <a:spcPct val="100000"/>
              </a:lnSpc>
              <a:spcBef>
                <a:spcPts val="0"/>
              </a:spcBef>
              <a:spcAft>
                <a:spcPts val="0"/>
              </a:spcAft>
              <a:buClr>
                <a:srgbClr val="000000"/>
              </a:buClr>
              <a:buSzPts val="1600"/>
              <a:buFont typeface="Noto Sans Symbols"/>
              <a:buChar char="✔"/>
            </a:pPr>
            <a:r>
              <a:rPr lang="en-GB" sz="1600" b="0" i="0" u="none" strike="noStrike" cap="none">
                <a:solidFill>
                  <a:schemeClr val="dk1"/>
                </a:solidFill>
                <a:latin typeface="Times New Roman"/>
                <a:ea typeface="Times New Roman"/>
                <a:cs typeface="Times New Roman"/>
                <a:sym typeface="Times New Roman"/>
              </a:rPr>
              <a:t>An efficient gradient boosting algorithm optimized for speed and performance.</a:t>
            </a:r>
            <a:endParaRPr/>
          </a:p>
          <a:p>
            <a:pPr marL="285750" marR="0" lvl="4" indent="-285750" algn="l" rtl="0">
              <a:lnSpc>
                <a:spcPct val="100000"/>
              </a:lnSpc>
              <a:spcBef>
                <a:spcPts val="0"/>
              </a:spcBef>
              <a:spcAft>
                <a:spcPts val="0"/>
              </a:spcAft>
              <a:buClr>
                <a:srgbClr val="000000"/>
              </a:buClr>
              <a:buSzPts val="1600"/>
              <a:buFont typeface="Noto Sans Symbols"/>
              <a:buChar char="✔"/>
            </a:pPr>
            <a:r>
              <a:rPr lang="en-GB" sz="1600" b="0" i="0" u="none" strike="noStrike" cap="none">
                <a:solidFill>
                  <a:schemeClr val="dk1"/>
                </a:solidFill>
                <a:latin typeface="Times New Roman"/>
                <a:ea typeface="Times New Roman"/>
                <a:cs typeface="Times New Roman"/>
                <a:sym typeface="Times New Roman"/>
              </a:rPr>
              <a:t>Handles large-scale data well and reduces overfitting using regularization.</a:t>
            </a:r>
            <a:endParaRPr/>
          </a:p>
          <a:p>
            <a:pPr marL="0" marR="0" lvl="0" indent="0" algn="l" rtl="0">
              <a:lnSpc>
                <a:spcPct val="100000"/>
              </a:lnSpc>
              <a:spcBef>
                <a:spcPts val="0"/>
              </a:spcBef>
              <a:spcAft>
                <a:spcPts val="0"/>
              </a:spcAft>
              <a:buNone/>
            </a:pPr>
            <a:r>
              <a:rPr lang="en-GB" sz="1600" b="1" i="0" u="none" strike="noStrike" cap="none">
                <a:solidFill>
                  <a:schemeClr val="dk1"/>
                </a:solidFill>
                <a:latin typeface="Times New Roman"/>
                <a:ea typeface="Times New Roman"/>
                <a:cs typeface="Times New Roman"/>
                <a:sym typeface="Times New Roman"/>
              </a:rPr>
              <a:t>Random Forests</a:t>
            </a:r>
            <a:endParaRPr/>
          </a:p>
          <a:p>
            <a:pPr marL="285750" marR="0" lvl="0" indent="-285750" algn="l" rtl="0">
              <a:lnSpc>
                <a:spcPct val="100000"/>
              </a:lnSpc>
              <a:spcBef>
                <a:spcPts val="0"/>
              </a:spcBef>
              <a:spcAft>
                <a:spcPts val="0"/>
              </a:spcAft>
              <a:buClr>
                <a:srgbClr val="000000"/>
              </a:buClr>
              <a:buSzPts val="1600"/>
              <a:buFont typeface="Noto Sans Symbols"/>
              <a:buChar char="✔"/>
            </a:pPr>
            <a:r>
              <a:rPr lang="en-GB" sz="1600" b="0" i="0" u="none" strike="noStrike" cap="none">
                <a:solidFill>
                  <a:schemeClr val="dk1"/>
                </a:solidFill>
                <a:latin typeface="Times New Roman"/>
                <a:ea typeface="Times New Roman"/>
                <a:cs typeface="Times New Roman"/>
                <a:sym typeface="Times New Roman"/>
              </a:rPr>
              <a:t>An ensemble of decision trees where predictions are averaged (classification/voting).</a:t>
            </a:r>
            <a:endParaRPr/>
          </a:p>
          <a:p>
            <a:pPr marL="285750" marR="0" lvl="0" indent="-285750" algn="l" rtl="0">
              <a:lnSpc>
                <a:spcPct val="100000"/>
              </a:lnSpc>
              <a:spcBef>
                <a:spcPts val="0"/>
              </a:spcBef>
              <a:spcAft>
                <a:spcPts val="0"/>
              </a:spcAft>
              <a:buClr>
                <a:srgbClr val="000000"/>
              </a:buClr>
              <a:buSzPts val="1600"/>
              <a:buFont typeface="Noto Sans Symbols"/>
              <a:buChar char="✔"/>
            </a:pPr>
            <a:r>
              <a:rPr lang="en-GB" sz="1600" b="0" i="0" u="none" strike="noStrike" cap="none">
                <a:solidFill>
                  <a:schemeClr val="dk1"/>
                </a:solidFill>
                <a:latin typeface="Times New Roman"/>
                <a:ea typeface="Times New Roman"/>
                <a:cs typeface="Times New Roman"/>
                <a:sym typeface="Times New Roman"/>
              </a:rPr>
              <a:t>Robust against noise and prevents overfitting by using bagging and feature randomness.</a:t>
            </a:r>
            <a:endParaRPr/>
          </a:p>
          <a:p>
            <a:pPr marL="0" marR="0" lvl="0" indent="0" algn="l" rtl="0">
              <a:lnSpc>
                <a:spcPct val="100000"/>
              </a:lnSpc>
              <a:spcBef>
                <a:spcPts val="0"/>
              </a:spcBef>
              <a:spcAft>
                <a:spcPts val="0"/>
              </a:spcAft>
              <a:buNone/>
            </a:pPr>
            <a:r>
              <a:rPr lang="en-GB" sz="1600" b="1" i="0" u="none" strike="noStrike" cap="none">
                <a:solidFill>
                  <a:schemeClr val="dk1"/>
                </a:solidFill>
                <a:latin typeface="Times New Roman"/>
                <a:ea typeface="Times New Roman"/>
                <a:cs typeface="Times New Roman"/>
                <a:sym typeface="Times New Roman"/>
              </a:rPr>
              <a:t>Riemannian Geometry + Logistic Regression</a:t>
            </a:r>
            <a:endParaRPr/>
          </a:p>
          <a:p>
            <a:pPr marL="285750" marR="0" lvl="0" indent="-285750" algn="l" rtl="0">
              <a:lnSpc>
                <a:spcPct val="100000"/>
              </a:lnSpc>
              <a:spcBef>
                <a:spcPts val="0"/>
              </a:spcBef>
              <a:spcAft>
                <a:spcPts val="0"/>
              </a:spcAft>
              <a:buClr>
                <a:srgbClr val="000000"/>
              </a:buClr>
              <a:buSzPts val="1600"/>
              <a:buFont typeface="Noto Sans Symbols"/>
              <a:buChar char="✔"/>
            </a:pPr>
            <a:r>
              <a:rPr lang="en-GB" sz="1600" b="0" i="0" u="none" strike="noStrike" cap="none">
                <a:solidFill>
                  <a:schemeClr val="dk1"/>
                </a:solidFill>
                <a:latin typeface="Times New Roman"/>
                <a:ea typeface="Times New Roman"/>
                <a:cs typeface="Times New Roman"/>
                <a:sym typeface="Times New Roman"/>
              </a:rPr>
              <a:t>Uses covariance matrices of EEG signals in Riemannian space for feature representation.</a:t>
            </a:r>
            <a:endParaRPr/>
          </a:p>
          <a:p>
            <a:pPr marL="0" marR="0" lvl="0" indent="0" algn="l" rtl="0">
              <a:lnSpc>
                <a:spcPct val="100000"/>
              </a:lnSpc>
              <a:spcBef>
                <a:spcPts val="0"/>
              </a:spcBef>
              <a:spcAft>
                <a:spcPts val="0"/>
              </a:spcAft>
              <a:buNone/>
            </a:pPr>
            <a:r>
              <a:rPr lang="en-GB" sz="1600" b="1" i="0" u="none" strike="noStrike" cap="none">
                <a:solidFill>
                  <a:schemeClr val="dk1"/>
                </a:solidFill>
                <a:latin typeface="Times New Roman"/>
                <a:ea typeface="Times New Roman"/>
                <a:cs typeface="Times New Roman"/>
                <a:sym typeface="Times New Roman"/>
              </a:rPr>
              <a:t>Wavelet Scattering + XGBoost/Random Forest</a:t>
            </a:r>
            <a:endParaRPr/>
          </a:p>
          <a:p>
            <a:pPr marL="285750" marR="0" lvl="0" indent="-285750" algn="l" rtl="0">
              <a:lnSpc>
                <a:spcPct val="100000"/>
              </a:lnSpc>
              <a:spcBef>
                <a:spcPts val="0"/>
              </a:spcBef>
              <a:spcAft>
                <a:spcPts val="0"/>
              </a:spcAft>
              <a:buClr>
                <a:srgbClr val="000000"/>
              </a:buClr>
              <a:buSzPts val="1600"/>
              <a:buFont typeface="Noto Sans Symbols"/>
              <a:buChar char="✔"/>
            </a:pPr>
            <a:r>
              <a:rPr lang="en-GB" sz="1600" b="0" i="0" u="none" strike="noStrike" cap="none">
                <a:solidFill>
                  <a:schemeClr val="dk1"/>
                </a:solidFill>
                <a:latin typeface="Times New Roman"/>
                <a:ea typeface="Times New Roman"/>
                <a:cs typeface="Times New Roman"/>
                <a:sym typeface="Times New Roman"/>
              </a:rPr>
              <a:t>Wavelet scattering extracts stable, time-frequency features from EEG signals.</a:t>
            </a:r>
            <a:endParaRPr/>
          </a:p>
          <a:p>
            <a:pPr marL="285750" marR="0" lvl="0" indent="-285750" algn="l" rtl="0">
              <a:lnSpc>
                <a:spcPct val="100000"/>
              </a:lnSpc>
              <a:spcBef>
                <a:spcPts val="0"/>
              </a:spcBef>
              <a:spcAft>
                <a:spcPts val="0"/>
              </a:spcAft>
              <a:buClr>
                <a:srgbClr val="000000"/>
              </a:buClr>
              <a:buSzPts val="1600"/>
              <a:buFont typeface="Noto Sans Symbols"/>
              <a:buChar char="✔"/>
            </a:pPr>
            <a:r>
              <a:rPr lang="en-GB" sz="1600" b="0" i="0" u="none" strike="noStrike" cap="none">
                <a:solidFill>
                  <a:schemeClr val="dk1"/>
                </a:solidFill>
                <a:latin typeface="Times New Roman"/>
                <a:ea typeface="Times New Roman"/>
                <a:cs typeface="Times New Roman"/>
                <a:sym typeface="Times New Roman"/>
              </a:rPr>
              <a:t>These features are fed into ML models (XGBoost/Random Forest) for classification.</a:t>
            </a:r>
            <a:endParaRPr/>
          </a:p>
          <a:p>
            <a:pPr marL="0" marR="0" lvl="0" indent="0" algn="l" rtl="0">
              <a:lnSpc>
                <a:spcPct val="100000"/>
              </a:lnSpc>
              <a:spcBef>
                <a:spcPts val="0"/>
              </a:spcBef>
              <a:spcAft>
                <a:spcPts val="0"/>
              </a:spcAft>
              <a:buNone/>
            </a:pPr>
            <a:r>
              <a:rPr lang="en-GB" sz="1600" b="1" i="0" u="none" strike="noStrike" cap="none">
                <a:solidFill>
                  <a:schemeClr val="dk1"/>
                </a:solidFill>
                <a:latin typeface="Times New Roman"/>
                <a:ea typeface="Times New Roman"/>
                <a:cs typeface="Times New Roman"/>
                <a:sym typeface="Times New Roman"/>
              </a:rPr>
              <a:t>EEGNet (CNN)</a:t>
            </a:r>
            <a:endParaRPr/>
          </a:p>
          <a:p>
            <a:pPr marL="285750" marR="0" lvl="0" indent="-285750" algn="l" rtl="0">
              <a:lnSpc>
                <a:spcPct val="100000"/>
              </a:lnSpc>
              <a:spcBef>
                <a:spcPts val="0"/>
              </a:spcBef>
              <a:spcAft>
                <a:spcPts val="0"/>
              </a:spcAft>
              <a:buClr>
                <a:srgbClr val="000000"/>
              </a:buClr>
              <a:buSzPts val="1600"/>
              <a:buFont typeface="Noto Sans Symbols"/>
              <a:buChar char="✔"/>
            </a:pPr>
            <a:r>
              <a:rPr lang="en-GB" sz="1600" b="0" i="0" u="none" strike="noStrike" cap="none">
                <a:solidFill>
                  <a:schemeClr val="dk1"/>
                </a:solidFill>
                <a:latin typeface="Times New Roman"/>
                <a:ea typeface="Times New Roman"/>
                <a:cs typeface="Times New Roman"/>
                <a:sym typeface="Times New Roman"/>
              </a:rPr>
              <a:t>A compact Convolutional Neural Network (CNN) designed specifically for EEG data.</a:t>
            </a:r>
            <a:endParaRPr/>
          </a:p>
          <a:p>
            <a:pPr marL="285750" marR="0" lvl="0" indent="-285750" algn="l" rtl="0">
              <a:lnSpc>
                <a:spcPct val="100000"/>
              </a:lnSpc>
              <a:spcBef>
                <a:spcPts val="0"/>
              </a:spcBef>
              <a:spcAft>
                <a:spcPts val="0"/>
              </a:spcAft>
              <a:buClr>
                <a:srgbClr val="000000"/>
              </a:buClr>
              <a:buSzPts val="1600"/>
              <a:buFont typeface="Noto Sans Symbols"/>
              <a:buChar char="✔"/>
            </a:pPr>
            <a:r>
              <a:rPr lang="en-GB" sz="1600" b="0" i="0" u="none" strike="noStrike" cap="none">
                <a:solidFill>
                  <a:schemeClr val="dk1"/>
                </a:solidFill>
                <a:latin typeface="Times New Roman"/>
                <a:ea typeface="Times New Roman"/>
                <a:cs typeface="Times New Roman"/>
                <a:sym typeface="Times New Roman"/>
              </a:rPr>
              <a:t>Learns spatial, temporal, and spectral patterns directly from raw EEG signals.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19</a:t>
            </a:fld>
            <a:endParaRPr/>
          </a:p>
        </p:txBody>
      </p:sp>
      <p:pic>
        <p:nvPicPr>
          <p:cNvPr id="244" name="Google Shape;244;p11" descr="logo.png"/>
          <p:cNvPicPr preferRelativeResize="0"/>
          <p:nvPr/>
        </p:nvPicPr>
        <p:blipFill rotWithShape="1">
          <a:blip r:embed="rId3">
            <a:alphaModFix/>
          </a:blip>
          <a:srcRect/>
          <a:stretch/>
        </p:blipFill>
        <p:spPr>
          <a:xfrm>
            <a:off x="117296" y="50703"/>
            <a:ext cx="928695" cy="857256"/>
          </a:xfrm>
          <a:prstGeom prst="rect">
            <a:avLst/>
          </a:prstGeom>
          <a:noFill/>
          <a:ln>
            <a:noFill/>
          </a:ln>
        </p:spPr>
      </p:pic>
      <p:sp>
        <p:nvSpPr>
          <p:cNvPr id="245" name="Google Shape;245;p11"/>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246" name="Google Shape;246;p11"/>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000"/>
              <a:buFont typeface="Arial"/>
              <a:buNone/>
            </a:pPr>
            <a:r>
              <a:rPr lang="en-GB" sz="3000" b="0" i="0" u="none" strike="noStrike" cap="none">
                <a:solidFill>
                  <a:schemeClr val="lt1"/>
                </a:solidFill>
                <a:latin typeface="Merriweather"/>
                <a:ea typeface="Merriweather"/>
                <a:cs typeface="Merriweather"/>
                <a:sym typeface="Merriweather"/>
              </a:rPr>
              <a:t>SYSTEM  ARCHITECTURE</a:t>
            </a:r>
            <a:endParaRPr sz="2500" b="0" i="0" u="none" strike="noStrike" cap="none">
              <a:solidFill>
                <a:schemeClr val="lt1"/>
              </a:solidFill>
              <a:latin typeface="Merriweather"/>
              <a:ea typeface="Merriweather"/>
              <a:cs typeface="Merriweather"/>
              <a:sym typeface="Merriweather"/>
            </a:endParaRPr>
          </a:p>
        </p:txBody>
      </p:sp>
      <p:sp>
        <p:nvSpPr>
          <p:cNvPr id="247" name="Google Shape;247;p11"/>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248" name="Google Shape;248;p11"/>
          <p:cNvSpPr txBox="1"/>
          <p:nvPr/>
        </p:nvSpPr>
        <p:spPr>
          <a:xfrm>
            <a:off x="74763" y="1162075"/>
            <a:ext cx="8796900" cy="3419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sng"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sng"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sng"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sng"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sng"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sng"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sng" strike="noStrike" cap="none">
              <a:solidFill>
                <a:schemeClr val="dk2"/>
              </a:solidFill>
              <a:latin typeface="Arial"/>
              <a:ea typeface="Arial"/>
              <a:cs typeface="Arial"/>
              <a:sym typeface="Arial"/>
            </a:endParaRPr>
          </a:p>
        </p:txBody>
      </p:sp>
      <p:pic>
        <p:nvPicPr>
          <p:cNvPr id="249" name="Google Shape;249;p11"/>
          <p:cNvPicPr preferRelativeResize="0"/>
          <p:nvPr/>
        </p:nvPicPr>
        <p:blipFill rotWithShape="1">
          <a:blip r:embed="rId4">
            <a:alphaModFix/>
          </a:blip>
          <a:srcRect/>
          <a:stretch/>
        </p:blipFill>
        <p:spPr>
          <a:xfrm>
            <a:off x="1521494" y="1022616"/>
            <a:ext cx="5903434" cy="335833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g381534ec281_0_27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20</a:t>
            </a:fld>
            <a:endParaRPr/>
          </a:p>
        </p:txBody>
      </p:sp>
      <p:pic>
        <p:nvPicPr>
          <p:cNvPr id="255" name="Google Shape;255;g381534ec281_0_275" descr="logo.png"/>
          <p:cNvPicPr preferRelativeResize="0"/>
          <p:nvPr/>
        </p:nvPicPr>
        <p:blipFill rotWithShape="1">
          <a:blip r:embed="rId3">
            <a:alphaModFix/>
          </a:blip>
          <a:srcRect/>
          <a:stretch/>
        </p:blipFill>
        <p:spPr>
          <a:xfrm>
            <a:off x="117296" y="50703"/>
            <a:ext cx="928695" cy="857256"/>
          </a:xfrm>
          <a:prstGeom prst="rect">
            <a:avLst/>
          </a:prstGeom>
          <a:noFill/>
          <a:ln>
            <a:noFill/>
          </a:ln>
        </p:spPr>
      </p:pic>
      <p:sp>
        <p:nvSpPr>
          <p:cNvPr id="256" name="Google Shape;256;g381534ec281_0_275"/>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257" name="Google Shape;257;g381534ec281_0_275"/>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000"/>
              <a:buFont typeface="Arial"/>
              <a:buNone/>
            </a:pPr>
            <a:r>
              <a:rPr lang="en-GB" sz="3000">
                <a:solidFill>
                  <a:schemeClr val="lt1"/>
                </a:solidFill>
                <a:latin typeface="Merriweather"/>
                <a:ea typeface="Merriweather"/>
                <a:cs typeface="Merriweather"/>
                <a:sym typeface="Merriweather"/>
              </a:rPr>
              <a:t>MODULE DESCRIPTION</a:t>
            </a:r>
            <a:endParaRPr sz="2500" b="0" i="0" u="none" strike="noStrike" cap="none">
              <a:solidFill>
                <a:schemeClr val="lt1"/>
              </a:solidFill>
              <a:latin typeface="Merriweather"/>
              <a:ea typeface="Merriweather"/>
              <a:cs typeface="Merriweather"/>
              <a:sym typeface="Merriweather"/>
            </a:endParaRPr>
          </a:p>
        </p:txBody>
      </p:sp>
      <p:sp>
        <p:nvSpPr>
          <p:cNvPr id="258" name="Google Shape;258;g381534ec281_0_275"/>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259" name="Google Shape;259;g381534ec281_0_275"/>
          <p:cNvSpPr txBox="1"/>
          <p:nvPr/>
        </p:nvSpPr>
        <p:spPr>
          <a:xfrm>
            <a:off x="117300" y="965606"/>
            <a:ext cx="8796900" cy="3582300"/>
          </a:xfrm>
          <a:prstGeom prst="rect">
            <a:avLst/>
          </a:prstGeom>
          <a:noFill/>
          <a:ln>
            <a:noFill/>
          </a:ln>
        </p:spPr>
        <p:txBody>
          <a:bodyPr spcFirstLastPara="1" wrap="square" lIns="91425" tIns="91425" rIns="91425" bIns="91425" anchor="t" anchorCtr="0">
            <a:noAutofit/>
          </a:bodyPr>
          <a:lstStyle/>
          <a:p>
            <a:pPr marL="285750" lvl="0" indent="-184150" algn="l" rtl="0">
              <a:spcBef>
                <a:spcPts val="0"/>
              </a:spcBef>
              <a:spcAft>
                <a:spcPts val="0"/>
              </a:spcAft>
              <a:buClr>
                <a:schemeClr val="dk1"/>
              </a:buClr>
              <a:buSzPts val="1100"/>
              <a:buFont typeface="Arial"/>
              <a:buNone/>
            </a:pPr>
            <a:r>
              <a:rPr lang="en-GB" sz="1700" b="1">
                <a:solidFill>
                  <a:schemeClr val="dk1"/>
                </a:solidFill>
                <a:latin typeface="Times New Roman"/>
                <a:ea typeface="Times New Roman"/>
                <a:cs typeface="Times New Roman"/>
                <a:sym typeface="Times New Roman"/>
              </a:rPr>
              <a:t>1.Data Collection</a:t>
            </a:r>
            <a:endParaRPr sz="1700" b="1">
              <a:solidFill>
                <a:schemeClr val="dk1"/>
              </a:solidFill>
              <a:latin typeface="Times New Roman"/>
              <a:ea typeface="Times New Roman"/>
              <a:cs typeface="Times New Roman"/>
              <a:sym typeface="Times New Roman"/>
            </a:endParaRPr>
          </a:p>
          <a:p>
            <a:pPr marL="914400" lvl="0" indent="-336550" algn="l" rtl="0">
              <a:spcBef>
                <a:spcPts val="0"/>
              </a:spcBef>
              <a:spcAft>
                <a:spcPts val="0"/>
              </a:spcAft>
              <a:buClr>
                <a:schemeClr val="dk1"/>
              </a:buClr>
              <a:buSzPts val="1700"/>
              <a:buFont typeface="Times New Roman"/>
              <a:buChar char="➔"/>
            </a:pPr>
            <a:r>
              <a:rPr lang="en-GB" sz="1700">
                <a:solidFill>
                  <a:schemeClr val="dk1"/>
                </a:solidFill>
                <a:latin typeface="Times New Roman"/>
                <a:ea typeface="Times New Roman"/>
                <a:cs typeface="Times New Roman"/>
                <a:sym typeface="Times New Roman"/>
              </a:rPr>
              <a:t>EEG signals are collected from participants, including both healthy controls and individuals at risk of Alzheimer’s.</a:t>
            </a:r>
            <a:endParaRPr sz="1700">
              <a:solidFill>
                <a:schemeClr val="dk1"/>
              </a:solidFill>
              <a:latin typeface="Times New Roman"/>
              <a:ea typeface="Times New Roman"/>
              <a:cs typeface="Times New Roman"/>
              <a:sym typeface="Times New Roman"/>
            </a:endParaRPr>
          </a:p>
          <a:p>
            <a:pPr marL="914400" lvl="0" indent="-336550" algn="l" rtl="0">
              <a:spcBef>
                <a:spcPts val="0"/>
              </a:spcBef>
              <a:spcAft>
                <a:spcPts val="0"/>
              </a:spcAft>
              <a:buClr>
                <a:schemeClr val="dk1"/>
              </a:buClr>
              <a:buSzPts val="1700"/>
              <a:buFont typeface="Times New Roman"/>
              <a:buChar char="➔"/>
            </a:pPr>
            <a:r>
              <a:rPr lang="en-GB" sz="1700">
                <a:solidFill>
                  <a:schemeClr val="dk1"/>
                </a:solidFill>
                <a:latin typeface="Times New Roman"/>
                <a:ea typeface="Times New Roman"/>
                <a:cs typeface="Times New Roman"/>
                <a:sym typeface="Times New Roman"/>
              </a:rPr>
              <a:t>Metadata such as age, gender, and clinical diagnosis are also recorded.</a:t>
            </a:r>
            <a:endParaRPr sz="1700">
              <a:solidFill>
                <a:schemeClr val="dk1"/>
              </a:solidFill>
              <a:latin typeface="Times New Roman"/>
              <a:ea typeface="Times New Roman"/>
              <a:cs typeface="Times New Roman"/>
              <a:sym typeface="Times New Roman"/>
            </a:endParaRPr>
          </a:p>
          <a:p>
            <a:pPr marL="285750" lvl="0" indent="-184150" algn="l" rtl="0">
              <a:spcBef>
                <a:spcPts val="0"/>
              </a:spcBef>
              <a:spcAft>
                <a:spcPts val="0"/>
              </a:spcAft>
              <a:buClr>
                <a:schemeClr val="dk1"/>
              </a:buClr>
              <a:buSzPts val="1100"/>
              <a:buFont typeface="Arial"/>
              <a:buNone/>
            </a:pPr>
            <a:r>
              <a:rPr lang="en-GB" sz="1700" b="1">
                <a:solidFill>
                  <a:schemeClr val="dk1"/>
                </a:solidFill>
                <a:latin typeface="Times New Roman"/>
                <a:ea typeface="Times New Roman"/>
                <a:cs typeface="Times New Roman"/>
                <a:sym typeface="Times New Roman"/>
              </a:rPr>
              <a:t>2.Preprocessing of EEG Signals</a:t>
            </a:r>
            <a:endParaRPr sz="1700" b="1">
              <a:solidFill>
                <a:schemeClr val="dk1"/>
              </a:solidFill>
              <a:latin typeface="Times New Roman"/>
              <a:ea typeface="Times New Roman"/>
              <a:cs typeface="Times New Roman"/>
              <a:sym typeface="Times New Roman"/>
            </a:endParaRPr>
          </a:p>
          <a:p>
            <a:pPr marL="914400" lvl="0" indent="-336550" algn="l" rtl="0">
              <a:spcBef>
                <a:spcPts val="0"/>
              </a:spcBef>
              <a:spcAft>
                <a:spcPts val="0"/>
              </a:spcAft>
              <a:buClr>
                <a:schemeClr val="dk1"/>
              </a:buClr>
              <a:buSzPts val="1700"/>
              <a:buFont typeface="Times New Roman"/>
              <a:buChar char="➔"/>
            </a:pPr>
            <a:r>
              <a:rPr lang="en-GB" sz="1700">
                <a:solidFill>
                  <a:schemeClr val="dk1"/>
                </a:solidFill>
                <a:latin typeface="Times New Roman"/>
                <a:ea typeface="Times New Roman"/>
                <a:cs typeface="Times New Roman"/>
                <a:sym typeface="Times New Roman"/>
              </a:rPr>
              <a:t>Noise removal (e.g., filtering, artifact removal from eye blinks and muscle movement).</a:t>
            </a:r>
            <a:endParaRPr sz="1700">
              <a:solidFill>
                <a:schemeClr val="dk1"/>
              </a:solidFill>
              <a:latin typeface="Times New Roman"/>
              <a:ea typeface="Times New Roman"/>
              <a:cs typeface="Times New Roman"/>
              <a:sym typeface="Times New Roman"/>
            </a:endParaRPr>
          </a:p>
          <a:p>
            <a:pPr marL="914400" lvl="0" indent="-336550" algn="l" rtl="0">
              <a:spcBef>
                <a:spcPts val="0"/>
              </a:spcBef>
              <a:spcAft>
                <a:spcPts val="0"/>
              </a:spcAft>
              <a:buClr>
                <a:schemeClr val="dk1"/>
              </a:buClr>
              <a:buSzPts val="1700"/>
              <a:buFont typeface="Times New Roman"/>
              <a:buChar char="➔"/>
            </a:pPr>
            <a:r>
              <a:rPr lang="en-GB" sz="1700">
                <a:solidFill>
                  <a:schemeClr val="dk1"/>
                </a:solidFill>
                <a:latin typeface="Times New Roman"/>
                <a:ea typeface="Times New Roman"/>
                <a:cs typeface="Times New Roman"/>
                <a:sym typeface="Times New Roman"/>
              </a:rPr>
              <a:t>Signal normalization and segmentation into epochs for uniform analysis.</a:t>
            </a:r>
            <a:endParaRPr sz="1700">
              <a:solidFill>
                <a:schemeClr val="dk1"/>
              </a:solidFill>
              <a:latin typeface="Times New Roman"/>
              <a:ea typeface="Times New Roman"/>
              <a:cs typeface="Times New Roman"/>
              <a:sym typeface="Times New Roman"/>
            </a:endParaRPr>
          </a:p>
          <a:p>
            <a:pPr marL="914400" lvl="0" indent="-336550" algn="l" rtl="0">
              <a:spcBef>
                <a:spcPts val="0"/>
              </a:spcBef>
              <a:spcAft>
                <a:spcPts val="0"/>
              </a:spcAft>
              <a:buClr>
                <a:schemeClr val="dk1"/>
              </a:buClr>
              <a:buSzPts val="1700"/>
              <a:buFont typeface="Times New Roman"/>
              <a:buChar char="➔"/>
            </a:pPr>
            <a:r>
              <a:rPr lang="en-GB" sz="1700">
                <a:solidFill>
                  <a:schemeClr val="dk1"/>
                </a:solidFill>
                <a:latin typeface="Times New Roman"/>
                <a:ea typeface="Times New Roman"/>
                <a:cs typeface="Times New Roman"/>
                <a:sym typeface="Times New Roman"/>
              </a:rPr>
              <a:t>Conversion into suitable feature spaces (time, frequency, and time-frequency domains).</a:t>
            </a:r>
            <a:endParaRPr sz="1700">
              <a:solidFill>
                <a:schemeClr val="dk1"/>
              </a:solidFill>
              <a:latin typeface="Times New Roman"/>
              <a:ea typeface="Times New Roman"/>
              <a:cs typeface="Times New Roman"/>
              <a:sym typeface="Times New Roman"/>
            </a:endParaRPr>
          </a:p>
          <a:p>
            <a:pPr marL="285750" lvl="0" indent="-184150" algn="l" rtl="0">
              <a:spcBef>
                <a:spcPts val="0"/>
              </a:spcBef>
              <a:spcAft>
                <a:spcPts val="0"/>
              </a:spcAft>
              <a:buClr>
                <a:schemeClr val="dk1"/>
              </a:buClr>
              <a:buSzPts val="1100"/>
              <a:buFont typeface="Arial"/>
              <a:buNone/>
            </a:pPr>
            <a:r>
              <a:rPr lang="en-GB" sz="1700" b="1">
                <a:solidFill>
                  <a:schemeClr val="dk1"/>
                </a:solidFill>
                <a:latin typeface="Times New Roman"/>
                <a:ea typeface="Times New Roman"/>
                <a:cs typeface="Times New Roman"/>
                <a:sym typeface="Times New Roman"/>
              </a:rPr>
              <a:t>3.Feature Extraction</a:t>
            </a:r>
            <a:endParaRPr sz="1700" b="1">
              <a:solidFill>
                <a:schemeClr val="dk1"/>
              </a:solidFill>
              <a:latin typeface="Times New Roman"/>
              <a:ea typeface="Times New Roman"/>
              <a:cs typeface="Times New Roman"/>
              <a:sym typeface="Times New Roman"/>
            </a:endParaRPr>
          </a:p>
          <a:p>
            <a:pPr marL="914400" lvl="0" indent="-336550" algn="l" rtl="0">
              <a:spcBef>
                <a:spcPts val="0"/>
              </a:spcBef>
              <a:spcAft>
                <a:spcPts val="0"/>
              </a:spcAft>
              <a:buClr>
                <a:schemeClr val="dk1"/>
              </a:buClr>
              <a:buSzPts val="1700"/>
              <a:buFont typeface="Times New Roman"/>
              <a:buChar char="➔"/>
            </a:pPr>
            <a:r>
              <a:rPr lang="en-GB" sz="1700">
                <a:solidFill>
                  <a:schemeClr val="dk1"/>
                </a:solidFill>
                <a:latin typeface="Times New Roman"/>
                <a:ea typeface="Times New Roman"/>
                <a:cs typeface="Times New Roman"/>
                <a:sym typeface="Times New Roman"/>
              </a:rPr>
              <a:t>Wavelet Scattering to capture time–frequency information from EEG signals.</a:t>
            </a:r>
            <a:endParaRPr sz="1700">
              <a:solidFill>
                <a:schemeClr val="dk1"/>
              </a:solidFill>
              <a:latin typeface="Times New Roman"/>
              <a:ea typeface="Times New Roman"/>
              <a:cs typeface="Times New Roman"/>
              <a:sym typeface="Times New Roman"/>
            </a:endParaRPr>
          </a:p>
          <a:p>
            <a:pPr marL="914400" lvl="0" indent="-336550" algn="l" rtl="0">
              <a:spcBef>
                <a:spcPts val="0"/>
              </a:spcBef>
              <a:spcAft>
                <a:spcPts val="0"/>
              </a:spcAft>
              <a:buClr>
                <a:schemeClr val="dk1"/>
              </a:buClr>
              <a:buSzPts val="1700"/>
              <a:buFont typeface="Times New Roman"/>
              <a:buChar char="➔"/>
            </a:pPr>
            <a:r>
              <a:rPr lang="en-GB" sz="1700">
                <a:solidFill>
                  <a:schemeClr val="dk1"/>
                </a:solidFill>
                <a:latin typeface="Times New Roman"/>
                <a:ea typeface="Times New Roman"/>
                <a:cs typeface="Times New Roman"/>
                <a:sym typeface="Times New Roman"/>
              </a:rPr>
              <a:t>Riemannian Geometry for covariance-based features preserving brain connectivity patterns.</a:t>
            </a:r>
            <a:endParaRPr sz="1700">
              <a:solidFill>
                <a:schemeClr val="dk1"/>
              </a:solidFill>
              <a:latin typeface="Times New Roman"/>
              <a:ea typeface="Times New Roman"/>
              <a:cs typeface="Times New Roman"/>
              <a:sym typeface="Times New Roman"/>
            </a:endParaRPr>
          </a:p>
          <a:p>
            <a:pPr marL="914400" lvl="0" indent="-336550" algn="l" rtl="0">
              <a:spcBef>
                <a:spcPts val="0"/>
              </a:spcBef>
              <a:spcAft>
                <a:spcPts val="0"/>
              </a:spcAft>
              <a:buClr>
                <a:schemeClr val="dk1"/>
              </a:buClr>
              <a:buSzPts val="1700"/>
              <a:buFont typeface="Times New Roman"/>
              <a:buChar char="➔"/>
            </a:pPr>
            <a:r>
              <a:rPr lang="en-GB" sz="1700">
                <a:solidFill>
                  <a:schemeClr val="dk1"/>
                </a:solidFill>
                <a:latin typeface="Times New Roman"/>
                <a:ea typeface="Times New Roman"/>
                <a:cs typeface="Times New Roman"/>
                <a:sym typeface="Times New Roman"/>
              </a:rPr>
              <a:t>Statistical features (mean, variance, entropy) derived from EEG segments.</a:t>
            </a:r>
            <a:endParaRPr sz="1700">
              <a:solidFill>
                <a:schemeClr val="dk1"/>
              </a:solidFill>
              <a:latin typeface="Times New Roman"/>
              <a:ea typeface="Times New Roman"/>
              <a:cs typeface="Times New Roman"/>
              <a:sym typeface="Times New Roman"/>
            </a:endParaRPr>
          </a:p>
          <a:p>
            <a:pPr marL="285750" marR="0" lvl="0" indent="-184150" algn="l" rtl="0">
              <a:lnSpc>
                <a:spcPct val="100000"/>
              </a:lnSpc>
              <a:spcBef>
                <a:spcPts val="0"/>
              </a:spcBef>
              <a:spcAft>
                <a:spcPts val="0"/>
              </a:spcAft>
              <a:buClr>
                <a:srgbClr val="000000"/>
              </a:buClr>
              <a:buSzPts val="1600"/>
              <a:buFont typeface="Noto Sans Symbols"/>
              <a:buNone/>
            </a:pPr>
            <a:endParaRPr sz="1200" b="1">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g381534ec281_0_30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21</a:t>
            </a:fld>
            <a:endParaRPr/>
          </a:p>
        </p:txBody>
      </p:sp>
      <p:pic>
        <p:nvPicPr>
          <p:cNvPr id="265" name="Google Shape;265;g381534ec281_0_309" descr="logo.png"/>
          <p:cNvPicPr preferRelativeResize="0"/>
          <p:nvPr/>
        </p:nvPicPr>
        <p:blipFill rotWithShape="1">
          <a:blip r:embed="rId3">
            <a:alphaModFix/>
          </a:blip>
          <a:srcRect/>
          <a:stretch/>
        </p:blipFill>
        <p:spPr>
          <a:xfrm>
            <a:off x="117296" y="50703"/>
            <a:ext cx="928695" cy="857256"/>
          </a:xfrm>
          <a:prstGeom prst="rect">
            <a:avLst/>
          </a:prstGeom>
          <a:noFill/>
          <a:ln>
            <a:noFill/>
          </a:ln>
        </p:spPr>
      </p:pic>
      <p:sp>
        <p:nvSpPr>
          <p:cNvPr id="266" name="Google Shape;266;g381534ec281_0_309"/>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267" name="Google Shape;267;g381534ec281_0_309"/>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3000"/>
              <a:buFont typeface="Arial"/>
              <a:buNone/>
            </a:pPr>
            <a:r>
              <a:rPr lang="en-GB" sz="3000">
                <a:solidFill>
                  <a:schemeClr val="lt1"/>
                </a:solidFill>
                <a:latin typeface="Merriweather"/>
                <a:ea typeface="Merriweather"/>
                <a:cs typeface="Merriweather"/>
                <a:sym typeface="Merriweather"/>
              </a:rPr>
              <a:t>MODULE DESCRIPTION</a:t>
            </a:r>
            <a:endParaRPr sz="2500">
              <a:solidFill>
                <a:schemeClr val="lt1"/>
              </a:solidFill>
              <a:latin typeface="Merriweather"/>
              <a:ea typeface="Merriweather"/>
              <a:cs typeface="Merriweather"/>
              <a:sym typeface="Merriweather"/>
            </a:endParaRPr>
          </a:p>
          <a:p>
            <a:pPr marL="0" marR="0" lvl="0" indent="0" algn="ctr" rtl="0">
              <a:lnSpc>
                <a:spcPct val="100000"/>
              </a:lnSpc>
              <a:spcBef>
                <a:spcPts val="0"/>
              </a:spcBef>
              <a:spcAft>
                <a:spcPts val="0"/>
              </a:spcAft>
              <a:buClr>
                <a:srgbClr val="000000"/>
              </a:buClr>
              <a:buSzPts val="3000"/>
              <a:buFont typeface="Arial"/>
              <a:buNone/>
            </a:pPr>
            <a:endParaRPr sz="3000">
              <a:solidFill>
                <a:schemeClr val="lt1"/>
              </a:solidFill>
              <a:latin typeface="Merriweather"/>
              <a:ea typeface="Merriweather"/>
              <a:cs typeface="Merriweather"/>
              <a:sym typeface="Merriweather"/>
            </a:endParaRPr>
          </a:p>
        </p:txBody>
      </p:sp>
      <p:sp>
        <p:nvSpPr>
          <p:cNvPr id="268" name="Google Shape;268;g381534ec281_0_309"/>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269" name="Google Shape;269;g381534ec281_0_309"/>
          <p:cNvSpPr txBox="1"/>
          <p:nvPr/>
        </p:nvSpPr>
        <p:spPr>
          <a:xfrm>
            <a:off x="117300" y="965606"/>
            <a:ext cx="8796900" cy="3582300"/>
          </a:xfrm>
          <a:prstGeom prst="rect">
            <a:avLst/>
          </a:prstGeom>
          <a:noFill/>
          <a:ln>
            <a:noFill/>
          </a:ln>
        </p:spPr>
        <p:txBody>
          <a:bodyPr spcFirstLastPara="1" wrap="square" lIns="91425" tIns="91425" rIns="91425" bIns="91425" anchor="t" anchorCtr="0">
            <a:noAutofit/>
          </a:bodyPr>
          <a:lstStyle/>
          <a:p>
            <a:pPr marL="285750" lvl="0" indent="-184150" algn="l" rtl="0">
              <a:spcBef>
                <a:spcPts val="0"/>
              </a:spcBef>
              <a:spcAft>
                <a:spcPts val="0"/>
              </a:spcAft>
              <a:buClr>
                <a:schemeClr val="dk1"/>
              </a:buClr>
              <a:buSzPts val="1100"/>
              <a:buFont typeface="Arial"/>
              <a:buNone/>
            </a:pPr>
            <a:r>
              <a:rPr lang="en-GB" sz="1700" b="1">
                <a:solidFill>
                  <a:schemeClr val="dk1"/>
                </a:solidFill>
                <a:latin typeface="Times New Roman"/>
                <a:ea typeface="Times New Roman"/>
                <a:cs typeface="Times New Roman"/>
                <a:sym typeface="Times New Roman"/>
              </a:rPr>
              <a:t>4.Model Training</a:t>
            </a:r>
            <a:endParaRPr sz="1700" b="1">
              <a:solidFill>
                <a:schemeClr val="dk1"/>
              </a:solidFill>
              <a:latin typeface="Times New Roman"/>
              <a:ea typeface="Times New Roman"/>
              <a:cs typeface="Times New Roman"/>
              <a:sym typeface="Times New Roman"/>
            </a:endParaRPr>
          </a:p>
          <a:p>
            <a:pPr marL="0" lvl="0" indent="457200" algn="l" rtl="0">
              <a:spcBef>
                <a:spcPts val="0"/>
              </a:spcBef>
              <a:spcAft>
                <a:spcPts val="0"/>
              </a:spcAft>
              <a:buNone/>
            </a:pPr>
            <a:r>
              <a:rPr lang="en-GB" sz="1700">
                <a:solidFill>
                  <a:schemeClr val="dk1"/>
                </a:solidFill>
                <a:latin typeface="Times New Roman"/>
                <a:ea typeface="Times New Roman"/>
                <a:cs typeface="Times New Roman"/>
                <a:sym typeface="Times New Roman"/>
              </a:rPr>
              <a:t>Multiple algorithms are applied and compared for classification:</a:t>
            </a:r>
            <a:endParaRPr sz="1700">
              <a:solidFill>
                <a:schemeClr val="dk1"/>
              </a:solidFill>
              <a:latin typeface="Times New Roman"/>
              <a:ea typeface="Times New Roman"/>
              <a:cs typeface="Times New Roman"/>
              <a:sym typeface="Times New Roman"/>
            </a:endParaRPr>
          </a:p>
          <a:p>
            <a:pPr marL="914400" lvl="0" indent="-336550" algn="l" rtl="0">
              <a:spcBef>
                <a:spcPts val="0"/>
              </a:spcBef>
              <a:spcAft>
                <a:spcPts val="0"/>
              </a:spcAft>
              <a:buClr>
                <a:schemeClr val="dk1"/>
              </a:buClr>
              <a:buSzPts val="1700"/>
              <a:buFont typeface="Times New Roman"/>
              <a:buChar char="➔"/>
            </a:pPr>
            <a:r>
              <a:rPr lang="en-GB" sz="1700">
                <a:solidFill>
                  <a:schemeClr val="dk1"/>
                </a:solidFill>
                <a:latin typeface="Times New Roman"/>
                <a:ea typeface="Times New Roman"/>
                <a:cs typeface="Times New Roman"/>
                <a:sym typeface="Times New Roman"/>
              </a:rPr>
              <a:t>XGBoost and Random Forests for tree-based classification.</a:t>
            </a:r>
            <a:endParaRPr sz="1700">
              <a:solidFill>
                <a:schemeClr val="dk1"/>
              </a:solidFill>
              <a:latin typeface="Times New Roman"/>
              <a:ea typeface="Times New Roman"/>
              <a:cs typeface="Times New Roman"/>
              <a:sym typeface="Times New Roman"/>
            </a:endParaRPr>
          </a:p>
          <a:p>
            <a:pPr marL="914400" lvl="0" indent="-336550" algn="l" rtl="0">
              <a:spcBef>
                <a:spcPts val="0"/>
              </a:spcBef>
              <a:spcAft>
                <a:spcPts val="0"/>
              </a:spcAft>
              <a:buClr>
                <a:schemeClr val="dk1"/>
              </a:buClr>
              <a:buSzPts val="1700"/>
              <a:buFont typeface="Times New Roman"/>
              <a:buChar char="➔"/>
            </a:pPr>
            <a:r>
              <a:rPr lang="en-GB" sz="1700">
                <a:solidFill>
                  <a:schemeClr val="dk1"/>
                </a:solidFill>
                <a:latin typeface="Times New Roman"/>
                <a:ea typeface="Times New Roman"/>
                <a:cs typeface="Times New Roman"/>
                <a:sym typeface="Times New Roman"/>
              </a:rPr>
              <a:t>Riemannian Geometry + Logistic Regression for robust covariance-based learning.</a:t>
            </a:r>
            <a:endParaRPr sz="1700">
              <a:solidFill>
                <a:schemeClr val="dk1"/>
              </a:solidFill>
              <a:latin typeface="Times New Roman"/>
              <a:ea typeface="Times New Roman"/>
              <a:cs typeface="Times New Roman"/>
              <a:sym typeface="Times New Roman"/>
            </a:endParaRPr>
          </a:p>
          <a:p>
            <a:pPr marL="914400" lvl="0" indent="-336550" algn="l" rtl="0">
              <a:spcBef>
                <a:spcPts val="0"/>
              </a:spcBef>
              <a:spcAft>
                <a:spcPts val="0"/>
              </a:spcAft>
              <a:buClr>
                <a:schemeClr val="dk1"/>
              </a:buClr>
              <a:buSzPts val="1700"/>
              <a:buFont typeface="Times New Roman"/>
              <a:buChar char="➔"/>
            </a:pPr>
            <a:r>
              <a:rPr lang="en-GB" sz="1700">
                <a:solidFill>
                  <a:schemeClr val="dk1"/>
                </a:solidFill>
                <a:latin typeface="Times New Roman"/>
                <a:ea typeface="Times New Roman"/>
                <a:cs typeface="Times New Roman"/>
                <a:sym typeface="Times New Roman"/>
              </a:rPr>
              <a:t>EEGNet (CNN) to automatically learn spatial–temporal patterns.</a:t>
            </a:r>
            <a:endParaRPr sz="1700">
              <a:solidFill>
                <a:schemeClr val="dk1"/>
              </a:solidFill>
              <a:latin typeface="Times New Roman"/>
              <a:ea typeface="Times New Roman"/>
              <a:cs typeface="Times New Roman"/>
              <a:sym typeface="Times New Roman"/>
            </a:endParaRPr>
          </a:p>
          <a:p>
            <a:pPr marL="914400" lvl="0" indent="-336550" algn="l" rtl="0">
              <a:spcBef>
                <a:spcPts val="0"/>
              </a:spcBef>
              <a:spcAft>
                <a:spcPts val="0"/>
              </a:spcAft>
              <a:buClr>
                <a:schemeClr val="dk1"/>
              </a:buClr>
              <a:buSzPts val="1700"/>
              <a:buFont typeface="Times New Roman"/>
              <a:buChar char="➔"/>
            </a:pPr>
            <a:r>
              <a:rPr lang="en-GB" sz="1700">
                <a:solidFill>
                  <a:schemeClr val="dk1"/>
                </a:solidFill>
                <a:latin typeface="Times New Roman"/>
                <a:ea typeface="Times New Roman"/>
                <a:cs typeface="Times New Roman"/>
                <a:sym typeface="Times New Roman"/>
              </a:rPr>
              <a:t>Temporal Convolutional Networks (TCN) for modeling sequential dependencies.</a:t>
            </a:r>
            <a:endParaRPr sz="1700">
              <a:solidFill>
                <a:schemeClr val="dk1"/>
              </a:solidFill>
              <a:latin typeface="Times New Roman"/>
              <a:ea typeface="Times New Roman"/>
              <a:cs typeface="Times New Roman"/>
              <a:sym typeface="Times New Roman"/>
            </a:endParaRPr>
          </a:p>
          <a:p>
            <a:pPr marL="914400" lvl="0" indent="-336550" algn="l" rtl="0">
              <a:spcBef>
                <a:spcPts val="0"/>
              </a:spcBef>
              <a:spcAft>
                <a:spcPts val="0"/>
              </a:spcAft>
              <a:buClr>
                <a:schemeClr val="dk1"/>
              </a:buClr>
              <a:buSzPts val="1700"/>
              <a:buFont typeface="Times New Roman"/>
              <a:buChar char="➔"/>
            </a:pPr>
            <a:r>
              <a:rPr lang="en-GB" sz="1700">
                <a:solidFill>
                  <a:schemeClr val="dk1"/>
                </a:solidFill>
                <a:latin typeface="Times New Roman"/>
                <a:ea typeface="Times New Roman"/>
                <a:cs typeface="Times New Roman"/>
                <a:sym typeface="Times New Roman"/>
              </a:rPr>
              <a:t>Stacking Ensemble combines outputs of base models for improved accuracy.</a:t>
            </a:r>
            <a:endParaRPr sz="1700">
              <a:solidFill>
                <a:schemeClr val="dk1"/>
              </a:solidFill>
              <a:latin typeface="Times New Roman"/>
              <a:ea typeface="Times New Roman"/>
              <a:cs typeface="Times New Roman"/>
              <a:sym typeface="Times New Roman"/>
            </a:endParaRPr>
          </a:p>
          <a:p>
            <a:pPr marL="285750" lvl="0" indent="-184150" algn="l" rtl="0">
              <a:spcBef>
                <a:spcPts val="0"/>
              </a:spcBef>
              <a:spcAft>
                <a:spcPts val="0"/>
              </a:spcAft>
              <a:buClr>
                <a:schemeClr val="dk1"/>
              </a:buClr>
              <a:buSzPts val="1100"/>
              <a:buFont typeface="Arial"/>
              <a:buNone/>
            </a:pPr>
            <a:r>
              <a:rPr lang="en-GB" sz="1700" b="1">
                <a:solidFill>
                  <a:schemeClr val="dk1"/>
                </a:solidFill>
                <a:latin typeface="Times New Roman"/>
                <a:ea typeface="Times New Roman"/>
                <a:cs typeface="Times New Roman"/>
                <a:sym typeface="Times New Roman"/>
              </a:rPr>
              <a:t>5.Model Evaluation</a:t>
            </a:r>
            <a:endParaRPr sz="1700" b="1">
              <a:solidFill>
                <a:schemeClr val="dk1"/>
              </a:solidFill>
              <a:latin typeface="Times New Roman"/>
              <a:ea typeface="Times New Roman"/>
              <a:cs typeface="Times New Roman"/>
              <a:sym typeface="Times New Roman"/>
            </a:endParaRPr>
          </a:p>
          <a:p>
            <a:pPr marL="914400" lvl="0" indent="-336550" algn="l" rtl="0">
              <a:spcBef>
                <a:spcPts val="0"/>
              </a:spcBef>
              <a:spcAft>
                <a:spcPts val="0"/>
              </a:spcAft>
              <a:buClr>
                <a:schemeClr val="dk1"/>
              </a:buClr>
              <a:buSzPts val="1700"/>
              <a:buFont typeface="Times New Roman"/>
              <a:buChar char="➔"/>
            </a:pPr>
            <a:r>
              <a:rPr lang="en-GB" sz="1700">
                <a:solidFill>
                  <a:schemeClr val="dk1"/>
                </a:solidFill>
                <a:latin typeface="Times New Roman"/>
                <a:ea typeface="Times New Roman"/>
                <a:cs typeface="Times New Roman"/>
                <a:sym typeface="Times New Roman"/>
              </a:rPr>
              <a:t>Train–test split or cross-validation applied to ensure generalization.</a:t>
            </a:r>
            <a:endParaRPr sz="1700">
              <a:solidFill>
                <a:schemeClr val="dk1"/>
              </a:solidFill>
              <a:latin typeface="Times New Roman"/>
              <a:ea typeface="Times New Roman"/>
              <a:cs typeface="Times New Roman"/>
              <a:sym typeface="Times New Roman"/>
            </a:endParaRPr>
          </a:p>
          <a:p>
            <a:pPr marL="914400" lvl="0" indent="-336550" algn="l" rtl="0">
              <a:spcBef>
                <a:spcPts val="0"/>
              </a:spcBef>
              <a:spcAft>
                <a:spcPts val="0"/>
              </a:spcAft>
              <a:buClr>
                <a:schemeClr val="dk1"/>
              </a:buClr>
              <a:buSzPts val="1700"/>
              <a:buFont typeface="Times New Roman"/>
              <a:buChar char="➔"/>
            </a:pPr>
            <a:r>
              <a:rPr lang="en-GB" sz="1700">
                <a:solidFill>
                  <a:schemeClr val="dk1"/>
                </a:solidFill>
                <a:latin typeface="Times New Roman"/>
                <a:ea typeface="Times New Roman"/>
                <a:cs typeface="Times New Roman"/>
                <a:sym typeface="Times New Roman"/>
              </a:rPr>
              <a:t>Metrics: Accuracy, Precision, Recall, F1-Score, and AUC are used for performance evaluation.</a:t>
            </a:r>
            <a:endParaRPr sz="1700">
              <a:solidFill>
                <a:schemeClr val="dk1"/>
              </a:solidFill>
              <a:latin typeface="Times New Roman"/>
              <a:ea typeface="Times New Roman"/>
              <a:cs typeface="Times New Roman"/>
              <a:sym typeface="Times New Roman"/>
            </a:endParaRPr>
          </a:p>
          <a:p>
            <a:pPr marL="914400" lvl="0" indent="-336550" algn="l" rtl="0">
              <a:spcBef>
                <a:spcPts val="0"/>
              </a:spcBef>
              <a:spcAft>
                <a:spcPts val="0"/>
              </a:spcAft>
              <a:buClr>
                <a:schemeClr val="dk1"/>
              </a:buClr>
              <a:buSzPts val="1700"/>
              <a:buFont typeface="Times New Roman"/>
              <a:buChar char="➔"/>
            </a:pPr>
            <a:r>
              <a:rPr lang="en-GB" sz="1700">
                <a:solidFill>
                  <a:schemeClr val="dk1"/>
                </a:solidFill>
                <a:latin typeface="Times New Roman"/>
                <a:ea typeface="Times New Roman"/>
                <a:cs typeface="Times New Roman"/>
                <a:sym typeface="Times New Roman"/>
              </a:rPr>
              <a:t>Comparison between traditional ML (XGBoost, Random Forest, Logistic Regression) and deep learning approaches (EEGNet, TCN).</a:t>
            </a:r>
            <a:endParaRPr sz="17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g381534ec281_0_3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22</a:t>
            </a:fld>
            <a:endParaRPr/>
          </a:p>
        </p:txBody>
      </p:sp>
      <p:pic>
        <p:nvPicPr>
          <p:cNvPr id="275" name="Google Shape;275;g381534ec281_0_322" descr="logo.png"/>
          <p:cNvPicPr preferRelativeResize="0"/>
          <p:nvPr/>
        </p:nvPicPr>
        <p:blipFill rotWithShape="1">
          <a:blip r:embed="rId3">
            <a:alphaModFix/>
          </a:blip>
          <a:srcRect/>
          <a:stretch/>
        </p:blipFill>
        <p:spPr>
          <a:xfrm>
            <a:off x="117296" y="50703"/>
            <a:ext cx="928695" cy="857256"/>
          </a:xfrm>
          <a:prstGeom prst="rect">
            <a:avLst/>
          </a:prstGeom>
          <a:noFill/>
          <a:ln>
            <a:noFill/>
          </a:ln>
        </p:spPr>
      </p:pic>
      <p:sp>
        <p:nvSpPr>
          <p:cNvPr id="276" name="Google Shape;276;g381534ec281_0_322"/>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277" name="Google Shape;277;g381534ec281_0_322"/>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3000"/>
              <a:buFont typeface="Arial"/>
              <a:buNone/>
            </a:pPr>
            <a:r>
              <a:rPr lang="en-GB" sz="3000">
                <a:solidFill>
                  <a:schemeClr val="lt1"/>
                </a:solidFill>
                <a:latin typeface="Merriweather"/>
                <a:ea typeface="Merriweather"/>
                <a:cs typeface="Merriweather"/>
                <a:sym typeface="Merriweather"/>
              </a:rPr>
              <a:t>MODULE DESCRIPTION</a:t>
            </a:r>
            <a:endParaRPr sz="2500">
              <a:solidFill>
                <a:schemeClr val="lt1"/>
              </a:solidFill>
              <a:latin typeface="Merriweather"/>
              <a:ea typeface="Merriweather"/>
              <a:cs typeface="Merriweather"/>
              <a:sym typeface="Merriweather"/>
            </a:endParaRPr>
          </a:p>
          <a:p>
            <a:pPr marL="0" marR="0" lvl="0" indent="0" algn="ctr" rtl="0">
              <a:lnSpc>
                <a:spcPct val="100000"/>
              </a:lnSpc>
              <a:spcBef>
                <a:spcPts val="0"/>
              </a:spcBef>
              <a:spcAft>
                <a:spcPts val="0"/>
              </a:spcAft>
              <a:buClr>
                <a:srgbClr val="000000"/>
              </a:buClr>
              <a:buSzPts val="3000"/>
              <a:buFont typeface="Arial"/>
              <a:buNone/>
            </a:pPr>
            <a:endParaRPr sz="3000">
              <a:solidFill>
                <a:schemeClr val="lt1"/>
              </a:solidFill>
              <a:latin typeface="Merriweather"/>
              <a:ea typeface="Merriweather"/>
              <a:cs typeface="Merriweather"/>
              <a:sym typeface="Merriweather"/>
            </a:endParaRPr>
          </a:p>
        </p:txBody>
      </p:sp>
      <p:sp>
        <p:nvSpPr>
          <p:cNvPr id="278" name="Google Shape;278;g381534ec281_0_322"/>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279" name="Google Shape;279;g381534ec281_0_322"/>
          <p:cNvSpPr txBox="1"/>
          <p:nvPr/>
        </p:nvSpPr>
        <p:spPr>
          <a:xfrm>
            <a:off x="117300" y="965606"/>
            <a:ext cx="8796900" cy="3582300"/>
          </a:xfrm>
          <a:prstGeom prst="rect">
            <a:avLst/>
          </a:prstGeom>
          <a:noFill/>
          <a:ln>
            <a:noFill/>
          </a:ln>
        </p:spPr>
        <p:txBody>
          <a:bodyPr spcFirstLastPara="1" wrap="square" lIns="91425" tIns="91425" rIns="91425" bIns="91425" anchor="t" anchorCtr="0">
            <a:noAutofit/>
          </a:bodyPr>
          <a:lstStyle/>
          <a:p>
            <a:pPr marL="285750" lvl="0" indent="-184150" algn="l" rtl="0">
              <a:spcBef>
                <a:spcPts val="0"/>
              </a:spcBef>
              <a:spcAft>
                <a:spcPts val="0"/>
              </a:spcAft>
              <a:buClr>
                <a:schemeClr val="dk1"/>
              </a:buClr>
              <a:buSzPts val="1100"/>
              <a:buFont typeface="Arial"/>
              <a:buNone/>
            </a:pPr>
            <a:r>
              <a:rPr lang="en-GB" sz="2000" b="1">
                <a:solidFill>
                  <a:schemeClr val="dk1"/>
                </a:solidFill>
                <a:latin typeface="Times New Roman"/>
                <a:ea typeface="Times New Roman"/>
                <a:cs typeface="Times New Roman"/>
                <a:sym typeface="Times New Roman"/>
              </a:rPr>
              <a:t>Output &amp; Deployment</a:t>
            </a:r>
            <a:endParaRPr sz="2000" b="1">
              <a:solidFill>
                <a:schemeClr val="dk1"/>
              </a:solidFill>
              <a:latin typeface="Times New Roman"/>
              <a:ea typeface="Times New Roman"/>
              <a:cs typeface="Times New Roman"/>
              <a:sym typeface="Times New Roman"/>
            </a:endParaRPr>
          </a:p>
          <a:p>
            <a:pPr marL="914400" lvl="0" indent="-355600" algn="l" rtl="0">
              <a:spcBef>
                <a:spcPts val="0"/>
              </a:spcBef>
              <a:spcAft>
                <a:spcPts val="0"/>
              </a:spcAft>
              <a:buClr>
                <a:schemeClr val="dk1"/>
              </a:buClr>
              <a:buSzPts val="2000"/>
              <a:buFont typeface="Times New Roman"/>
              <a:buChar char="➔"/>
            </a:pPr>
            <a:r>
              <a:rPr lang="en-GB" sz="2000">
                <a:solidFill>
                  <a:schemeClr val="dk1"/>
                </a:solidFill>
                <a:latin typeface="Times New Roman"/>
                <a:ea typeface="Times New Roman"/>
                <a:cs typeface="Times New Roman"/>
                <a:sym typeface="Times New Roman"/>
              </a:rPr>
              <a:t>Best-performing model stored as a trained model.</a:t>
            </a:r>
            <a:endParaRPr sz="2000">
              <a:solidFill>
                <a:schemeClr val="dk1"/>
              </a:solidFill>
              <a:latin typeface="Times New Roman"/>
              <a:ea typeface="Times New Roman"/>
              <a:cs typeface="Times New Roman"/>
              <a:sym typeface="Times New Roman"/>
            </a:endParaRPr>
          </a:p>
          <a:p>
            <a:pPr marL="914400" lvl="0" indent="-355600" algn="l" rtl="0">
              <a:spcBef>
                <a:spcPts val="0"/>
              </a:spcBef>
              <a:spcAft>
                <a:spcPts val="0"/>
              </a:spcAft>
              <a:buClr>
                <a:schemeClr val="dk1"/>
              </a:buClr>
              <a:buSzPts val="2000"/>
              <a:buFont typeface="Times New Roman"/>
              <a:buChar char="➔"/>
            </a:pPr>
            <a:r>
              <a:rPr lang="en-GB" sz="2000">
                <a:solidFill>
                  <a:schemeClr val="dk1"/>
                </a:solidFill>
                <a:latin typeface="Times New Roman"/>
                <a:ea typeface="Times New Roman"/>
                <a:cs typeface="Times New Roman"/>
                <a:sym typeface="Times New Roman"/>
              </a:rPr>
              <a:t>Predictions exported (e.g., to CSV or dashboard) for interpretation.</a:t>
            </a:r>
            <a:endParaRPr sz="2000">
              <a:solidFill>
                <a:schemeClr val="dk1"/>
              </a:solidFill>
              <a:latin typeface="Times New Roman"/>
              <a:ea typeface="Times New Roman"/>
              <a:cs typeface="Times New Roman"/>
              <a:sym typeface="Times New Roman"/>
            </a:endParaRPr>
          </a:p>
          <a:p>
            <a:pPr marL="914400" lvl="0" indent="-355600" algn="l" rtl="0">
              <a:spcBef>
                <a:spcPts val="0"/>
              </a:spcBef>
              <a:spcAft>
                <a:spcPts val="0"/>
              </a:spcAft>
              <a:buClr>
                <a:schemeClr val="dk1"/>
              </a:buClr>
              <a:buSzPts val="2000"/>
              <a:buFont typeface="Times New Roman"/>
              <a:buChar char="➔"/>
            </a:pPr>
            <a:r>
              <a:rPr lang="en-GB" sz="2000">
                <a:solidFill>
                  <a:schemeClr val="dk1"/>
                </a:solidFill>
                <a:latin typeface="Times New Roman"/>
                <a:ea typeface="Times New Roman"/>
                <a:cs typeface="Times New Roman"/>
                <a:sym typeface="Times New Roman"/>
              </a:rPr>
              <a:t>Final system designed as a pipeline where EEG data → preprocessing → model inference  Alzheimer’s detection.</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GB" sz="18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3ae73a251e8_0_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23</a:t>
            </a:fld>
            <a:endParaRPr/>
          </a:p>
        </p:txBody>
      </p:sp>
      <p:pic>
        <p:nvPicPr>
          <p:cNvPr id="285" name="Google Shape;285;g3ae73a251e8_0_44" descr="logo.png"/>
          <p:cNvPicPr preferRelativeResize="0"/>
          <p:nvPr/>
        </p:nvPicPr>
        <p:blipFill rotWithShape="1">
          <a:blip r:embed="rId3">
            <a:alphaModFix/>
          </a:blip>
          <a:srcRect/>
          <a:stretch/>
        </p:blipFill>
        <p:spPr>
          <a:xfrm>
            <a:off x="117296" y="50703"/>
            <a:ext cx="928695" cy="857256"/>
          </a:xfrm>
          <a:prstGeom prst="rect">
            <a:avLst/>
          </a:prstGeom>
          <a:noFill/>
          <a:ln>
            <a:noFill/>
          </a:ln>
        </p:spPr>
      </p:pic>
      <p:sp>
        <p:nvSpPr>
          <p:cNvPr id="286" name="Google Shape;286;g3ae73a251e8_0_44"/>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287" name="Google Shape;287;g3ae73a251e8_0_44"/>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3000"/>
              <a:buFont typeface="Arial"/>
              <a:buNone/>
            </a:pPr>
            <a:r>
              <a:rPr lang="en-GB" sz="3000">
                <a:solidFill>
                  <a:schemeClr val="lt1"/>
                </a:solidFill>
                <a:latin typeface="Merriweather"/>
                <a:ea typeface="Merriweather"/>
                <a:cs typeface="Merriweather"/>
                <a:sym typeface="Merriweather"/>
              </a:rPr>
              <a:t>TECHNOLOGY STACK</a:t>
            </a:r>
            <a:endParaRPr sz="2500">
              <a:solidFill>
                <a:schemeClr val="lt1"/>
              </a:solidFill>
              <a:latin typeface="Merriweather"/>
              <a:ea typeface="Merriweather"/>
              <a:cs typeface="Merriweather"/>
              <a:sym typeface="Merriweather"/>
            </a:endParaRPr>
          </a:p>
          <a:p>
            <a:pPr marL="0" marR="0" lvl="0" indent="0" algn="ctr" rtl="0">
              <a:lnSpc>
                <a:spcPct val="100000"/>
              </a:lnSpc>
              <a:spcBef>
                <a:spcPts val="0"/>
              </a:spcBef>
              <a:spcAft>
                <a:spcPts val="0"/>
              </a:spcAft>
              <a:buClr>
                <a:srgbClr val="000000"/>
              </a:buClr>
              <a:buSzPts val="3000"/>
              <a:buFont typeface="Arial"/>
              <a:buNone/>
            </a:pPr>
            <a:endParaRPr sz="3000">
              <a:solidFill>
                <a:schemeClr val="lt1"/>
              </a:solidFill>
              <a:latin typeface="Merriweather"/>
              <a:ea typeface="Merriweather"/>
              <a:cs typeface="Merriweather"/>
              <a:sym typeface="Merriweather"/>
            </a:endParaRPr>
          </a:p>
        </p:txBody>
      </p:sp>
      <p:sp>
        <p:nvSpPr>
          <p:cNvPr id="288" name="Google Shape;288;g3ae73a251e8_0_44"/>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289" name="Google Shape;289;g3ae73a251e8_0_44"/>
          <p:cNvSpPr txBox="1"/>
          <p:nvPr/>
        </p:nvSpPr>
        <p:spPr>
          <a:xfrm>
            <a:off x="117300" y="965606"/>
            <a:ext cx="8796900" cy="358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000" b="1" u="sng">
                <a:solidFill>
                  <a:schemeClr val="dk1"/>
                </a:solidFill>
                <a:latin typeface="Times New Roman"/>
                <a:ea typeface="Times New Roman"/>
                <a:cs typeface="Times New Roman"/>
                <a:sym typeface="Times New Roman"/>
              </a:rPr>
              <a:t>Programming Languages Used:</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GB" sz="2000" b="1">
                <a:solidFill>
                  <a:schemeClr val="dk1"/>
                </a:solidFill>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Using Python to develop deep Neural Networks for data preprocessing and </a:t>
            </a:r>
            <a:br>
              <a:rPr lang="en-GB" sz="2000">
                <a:solidFill>
                  <a:schemeClr val="dk1"/>
                </a:solidFill>
                <a:latin typeface="Times New Roman"/>
                <a:ea typeface="Times New Roman"/>
                <a:cs typeface="Times New Roman"/>
                <a:sym typeface="Times New Roman"/>
              </a:rPr>
            </a:br>
            <a:r>
              <a:rPr lang="en-GB" sz="2000">
                <a:solidFill>
                  <a:schemeClr val="dk1"/>
                </a:solidFill>
                <a:latin typeface="Times New Roman"/>
                <a:ea typeface="Times New Roman"/>
                <a:cs typeface="Times New Roman"/>
                <a:sym typeface="Times New Roman"/>
              </a:rPr>
              <a:t>        Web Application development for real time use with StreamLit frameworks</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GB" sz="2000" b="1" u="sng">
                <a:solidFill>
                  <a:schemeClr val="dk1"/>
                </a:solidFill>
                <a:latin typeface="Times New Roman"/>
                <a:ea typeface="Times New Roman"/>
                <a:cs typeface="Times New Roman"/>
                <a:sym typeface="Times New Roman"/>
              </a:rPr>
              <a:t>Libraries Used:</a:t>
            </a:r>
            <a:endParaRPr sz="2000" b="1" u="sng">
              <a:solidFill>
                <a:schemeClr val="dk1"/>
              </a:solidFill>
              <a:latin typeface="Times New Roman"/>
              <a:ea typeface="Times New Roman"/>
              <a:cs typeface="Times New Roman"/>
              <a:sym typeface="Times New Roman"/>
            </a:endParaRPr>
          </a:p>
          <a:p>
            <a:pPr marL="457200" lvl="0" indent="-355600" algn="l" rtl="0">
              <a:spcBef>
                <a:spcPts val="0"/>
              </a:spcBef>
              <a:spcAft>
                <a:spcPts val="0"/>
              </a:spcAft>
              <a:buClr>
                <a:schemeClr val="dk1"/>
              </a:buClr>
              <a:buSzPts val="2000"/>
              <a:buFont typeface="Times New Roman"/>
              <a:buChar char="●"/>
            </a:pPr>
            <a:r>
              <a:rPr lang="en-GB" sz="2000">
                <a:solidFill>
                  <a:schemeClr val="dk1"/>
                </a:solidFill>
                <a:latin typeface="Times New Roman"/>
                <a:ea typeface="Times New Roman"/>
                <a:cs typeface="Times New Roman"/>
                <a:sym typeface="Times New Roman"/>
              </a:rPr>
              <a:t>  StreamLit for the Web Application Development.</a:t>
            </a:r>
            <a:endParaRPr sz="2000">
              <a:solidFill>
                <a:schemeClr val="dk1"/>
              </a:solidFill>
              <a:latin typeface="Times New Roman"/>
              <a:ea typeface="Times New Roman"/>
              <a:cs typeface="Times New Roman"/>
              <a:sym typeface="Times New Roman"/>
            </a:endParaRPr>
          </a:p>
          <a:p>
            <a:pPr marL="457200" lvl="0" indent="-355600" algn="l" rtl="0">
              <a:spcBef>
                <a:spcPts val="0"/>
              </a:spcBef>
              <a:spcAft>
                <a:spcPts val="0"/>
              </a:spcAft>
              <a:buClr>
                <a:schemeClr val="dk1"/>
              </a:buClr>
              <a:buSzPts val="2000"/>
              <a:buFont typeface="Times New Roman"/>
              <a:buChar char="●"/>
            </a:pPr>
            <a:r>
              <a:rPr lang="en-GB" sz="2000">
                <a:solidFill>
                  <a:schemeClr val="dk1"/>
                </a:solidFill>
                <a:latin typeface="Times New Roman"/>
                <a:ea typeface="Times New Roman"/>
                <a:cs typeface="Times New Roman"/>
                <a:sym typeface="Times New Roman"/>
              </a:rPr>
              <a:t>  Scipy , scikit Learn , Numpy , MatplotLib for graphical representation of the        data</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GB" sz="2000" b="1" u="sng">
                <a:solidFill>
                  <a:schemeClr val="dk1"/>
                </a:solidFill>
                <a:latin typeface="Times New Roman"/>
                <a:ea typeface="Times New Roman"/>
                <a:cs typeface="Times New Roman"/>
                <a:sym typeface="Times New Roman"/>
              </a:rPr>
              <a:t>Algorithms Used:</a:t>
            </a:r>
            <a:endParaRPr sz="2000" b="1" u="sng">
              <a:solidFill>
                <a:schemeClr val="dk1"/>
              </a:solidFill>
              <a:latin typeface="Times New Roman"/>
              <a:ea typeface="Times New Roman"/>
              <a:cs typeface="Times New Roman"/>
              <a:sym typeface="Times New Roman"/>
            </a:endParaRPr>
          </a:p>
          <a:p>
            <a:pPr marL="457200" lvl="0" indent="-355600" algn="l" rtl="0">
              <a:spcBef>
                <a:spcPts val="0"/>
              </a:spcBef>
              <a:spcAft>
                <a:spcPts val="0"/>
              </a:spcAft>
              <a:buClr>
                <a:schemeClr val="dk1"/>
              </a:buClr>
              <a:buSzPts val="2000"/>
              <a:buFont typeface="Times New Roman"/>
              <a:buChar char="●"/>
            </a:pPr>
            <a:r>
              <a:rPr lang="en-GB" sz="2000">
                <a:solidFill>
                  <a:schemeClr val="dk1"/>
                </a:solidFill>
                <a:latin typeface="Times New Roman"/>
                <a:ea typeface="Times New Roman"/>
                <a:cs typeface="Times New Roman"/>
                <a:sym typeface="Times New Roman"/>
              </a:rPr>
              <a:t>Wavelet Scattering ,XGBoost , RandomForest , Riemannian Geometry and Logistic Regression</a:t>
            </a:r>
            <a:endParaRPr sz="2000">
              <a:solidFill>
                <a:schemeClr val="dk1"/>
              </a:solidFill>
              <a:latin typeface="Times New Roman"/>
              <a:ea typeface="Times New Roman"/>
              <a:cs typeface="Times New Roman"/>
              <a:sym typeface="Times New Roman"/>
            </a:endParaRPr>
          </a:p>
          <a:p>
            <a:pPr marL="457200" lvl="0" indent="-355600" algn="l" rtl="0">
              <a:spcBef>
                <a:spcPts val="0"/>
              </a:spcBef>
              <a:spcAft>
                <a:spcPts val="0"/>
              </a:spcAft>
              <a:buClr>
                <a:schemeClr val="dk1"/>
              </a:buClr>
              <a:buSzPts val="2000"/>
              <a:buFont typeface="Times New Roman"/>
              <a:buChar char="●"/>
            </a:pPr>
            <a:r>
              <a:rPr lang="en-GB" sz="2000">
                <a:solidFill>
                  <a:schemeClr val="dk1"/>
                </a:solidFill>
                <a:latin typeface="Times New Roman"/>
                <a:ea typeface="Times New Roman"/>
                <a:cs typeface="Times New Roman"/>
                <a:sym typeface="Times New Roman"/>
              </a:rPr>
              <a:t>TCN(Temporal CNN) , EEGNet , Stacking Ensemble Learninig.</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3ae73a251e8_0_8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24</a:t>
            </a:fld>
            <a:endParaRPr/>
          </a:p>
        </p:txBody>
      </p:sp>
      <p:pic>
        <p:nvPicPr>
          <p:cNvPr id="295" name="Google Shape;295;g3ae73a251e8_0_89" descr="logo.png"/>
          <p:cNvPicPr preferRelativeResize="0"/>
          <p:nvPr/>
        </p:nvPicPr>
        <p:blipFill rotWithShape="1">
          <a:blip r:embed="rId3">
            <a:alphaModFix/>
          </a:blip>
          <a:srcRect/>
          <a:stretch/>
        </p:blipFill>
        <p:spPr>
          <a:xfrm>
            <a:off x="117296" y="50703"/>
            <a:ext cx="928695" cy="857256"/>
          </a:xfrm>
          <a:prstGeom prst="rect">
            <a:avLst/>
          </a:prstGeom>
          <a:noFill/>
          <a:ln>
            <a:noFill/>
          </a:ln>
        </p:spPr>
      </p:pic>
      <p:sp>
        <p:nvSpPr>
          <p:cNvPr id="296" name="Google Shape;296;g3ae73a251e8_0_89"/>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297" name="Google Shape;297;g3ae73a251e8_0_89"/>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000"/>
              <a:buFont typeface="Arial"/>
              <a:buNone/>
            </a:pPr>
            <a:r>
              <a:rPr lang="en-GB" sz="3000">
                <a:solidFill>
                  <a:schemeClr val="lt1"/>
                </a:solidFill>
                <a:latin typeface="Merriweather"/>
                <a:ea typeface="Merriweather"/>
                <a:cs typeface="Merriweather"/>
                <a:sym typeface="Merriweather"/>
              </a:rPr>
              <a:t>TECHNOLOGY STACK</a:t>
            </a:r>
            <a:endParaRPr sz="3000" b="0" i="0" u="none" strike="noStrike" cap="none">
              <a:solidFill>
                <a:schemeClr val="lt1"/>
              </a:solidFill>
              <a:latin typeface="Merriweather"/>
              <a:ea typeface="Merriweather"/>
              <a:cs typeface="Merriweather"/>
              <a:sym typeface="Merriweather"/>
            </a:endParaRPr>
          </a:p>
        </p:txBody>
      </p:sp>
      <p:sp>
        <p:nvSpPr>
          <p:cNvPr id="298" name="Google Shape;298;g3ae73a251e8_0_89"/>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299" name="Google Shape;299;g3ae73a251e8_0_89"/>
          <p:cNvSpPr txBox="1"/>
          <p:nvPr/>
        </p:nvSpPr>
        <p:spPr>
          <a:xfrm>
            <a:off x="233800" y="1024250"/>
            <a:ext cx="8700600" cy="349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dk2"/>
                </a:solidFill>
              </a:rPr>
              <a:t>HARDWARE REQUIREMENTS:</a:t>
            </a:r>
            <a:endParaRPr sz="1800">
              <a:solidFill>
                <a:schemeClr val="dk2"/>
              </a:solidFill>
            </a:endParaRPr>
          </a:p>
          <a:p>
            <a:pPr marL="457200" lvl="0" indent="-342900" algn="l" rtl="0">
              <a:spcBef>
                <a:spcPts val="0"/>
              </a:spcBef>
              <a:spcAft>
                <a:spcPts val="0"/>
              </a:spcAft>
              <a:buClr>
                <a:schemeClr val="dk2"/>
              </a:buClr>
              <a:buSzPts val="1800"/>
              <a:buChar char="●"/>
            </a:pPr>
            <a:r>
              <a:rPr lang="en-GB" sz="1800">
                <a:solidFill>
                  <a:schemeClr val="dk2"/>
                </a:solidFill>
              </a:rPr>
              <a:t>A laptop or PC with NVIDIA GPU (8GB+ for basics ,16GB)</a:t>
            </a:r>
            <a:endParaRPr sz="1800">
              <a:solidFill>
                <a:schemeClr val="dk2"/>
              </a:solidFill>
            </a:endParaRPr>
          </a:p>
          <a:p>
            <a:pPr marL="457200" lvl="0" indent="-342900" algn="l" rtl="0">
              <a:spcBef>
                <a:spcPts val="0"/>
              </a:spcBef>
              <a:spcAft>
                <a:spcPts val="0"/>
              </a:spcAft>
              <a:buClr>
                <a:schemeClr val="dk2"/>
              </a:buClr>
              <a:buSzPts val="1800"/>
              <a:buChar char="●"/>
            </a:pPr>
            <a:r>
              <a:rPr lang="en-GB" sz="1800">
                <a:solidFill>
                  <a:schemeClr val="dk2"/>
                </a:solidFill>
              </a:rPr>
              <a:t>Multi-Core CPU (8 cores/ octacore)</a:t>
            </a:r>
            <a:endParaRPr sz="1800">
              <a:solidFill>
                <a:schemeClr val="dk2"/>
              </a:solidFill>
            </a:endParaRPr>
          </a:p>
          <a:p>
            <a:pPr marL="457200" lvl="0" indent="-342900" algn="l" rtl="0">
              <a:spcBef>
                <a:spcPts val="0"/>
              </a:spcBef>
              <a:spcAft>
                <a:spcPts val="0"/>
              </a:spcAft>
              <a:buClr>
                <a:schemeClr val="dk2"/>
              </a:buClr>
              <a:buSzPts val="1800"/>
              <a:buChar char="●"/>
            </a:pPr>
            <a:r>
              <a:rPr lang="en-GB" sz="1800">
                <a:solidFill>
                  <a:schemeClr val="dk2"/>
                </a:solidFill>
              </a:rPr>
              <a:t>Fast SSD storage with running with any os with python,tensorflow</a:t>
            </a:r>
            <a:endParaRPr sz="1800">
              <a:solidFill>
                <a:schemeClr val="dk2"/>
              </a:solidFill>
            </a:endParaRPr>
          </a:p>
          <a:p>
            <a:pPr marL="0" lvl="0" indent="0" algn="l" rtl="0">
              <a:spcBef>
                <a:spcPts val="0"/>
              </a:spcBef>
              <a:spcAft>
                <a:spcPts val="0"/>
              </a:spcAft>
              <a:buNone/>
            </a:pPr>
            <a:r>
              <a:rPr lang="en-GB" sz="1800">
                <a:solidFill>
                  <a:schemeClr val="dk2"/>
                </a:solidFill>
              </a:rPr>
              <a:t>SOFTWARE REQUIREMENTS:</a:t>
            </a:r>
            <a:endParaRPr sz="1800">
              <a:solidFill>
                <a:schemeClr val="dk2"/>
              </a:solidFill>
            </a:endParaRPr>
          </a:p>
          <a:p>
            <a:pPr marL="457200" lvl="0" indent="-342900" algn="l" rtl="0">
              <a:spcBef>
                <a:spcPts val="0"/>
              </a:spcBef>
              <a:spcAft>
                <a:spcPts val="0"/>
              </a:spcAft>
              <a:buClr>
                <a:schemeClr val="dk2"/>
              </a:buClr>
              <a:buSzPts val="1800"/>
              <a:buChar char="●"/>
            </a:pPr>
            <a:r>
              <a:rPr lang="en-GB" sz="1800">
                <a:solidFill>
                  <a:schemeClr val="dk2"/>
                </a:solidFill>
              </a:rPr>
              <a:t>OS : windows 10+</a:t>
            </a:r>
            <a:endParaRPr sz="1800">
              <a:solidFill>
                <a:schemeClr val="dk2"/>
              </a:solidFill>
            </a:endParaRPr>
          </a:p>
          <a:p>
            <a:pPr marL="457200" lvl="0" indent="-342900" algn="l" rtl="0">
              <a:spcBef>
                <a:spcPts val="0"/>
              </a:spcBef>
              <a:spcAft>
                <a:spcPts val="0"/>
              </a:spcAft>
              <a:buClr>
                <a:schemeClr val="dk2"/>
              </a:buClr>
              <a:buSzPts val="1800"/>
              <a:buChar char="●"/>
            </a:pPr>
            <a:r>
              <a:rPr lang="en-GB" sz="1800">
                <a:solidFill>
                  <a:schemeClr val="dk2"/>
                </a:solidFill>
              </a:rPr>
              <a:t>Core libraries:numpy,pandas,scikit-learn,pytorch/tensorflow</a:t>
            </a:r>
            <a:endParaRPr sz="1800">
              <a:solidFill>
                <a:schemeClr val="dk2"/>
              </a:solidFill>
            </a:endParaRPr>
          </a:p>
          <a:p>
            <a:pPr marL="457200" lvl="0" indent="-342900" algn="l" rtl="0">
              <a:spcBef>
                <a:spcPts val="0"/>
              </a:spcBef>
              <a:spcAft>
                <a:spcPts val="0"/>
              </a:spcAft>
              <a:buClr>
                <a:schemeClr val="dk2"/>
              </a:buClr>
              <a:buSzPts val="1800"/>
              <a:buChar char="●"/>
            </a:pPr>
            <a:r>
              <a:rPr lang="en-GB" sz="1800">
                <a:solidFill>
                  <a:schemeClr val="dk2"/>
                </a:solidFill>
              </a:rPr>
              <a:t>GPU accelration:NVIDIA CUDA toolkit</a:t>
            </a:r>
            <a:endParaRPr sz="1800">
              <a:solidFill>
                <a:schemeClr val="dk2"/>
              </a:solidFill>
            </a:endParaRPr>
          </a:p>
          <a:p>
            <a:pPr marL="457200" lvl="0" indent="-342900" algn="l" rtl="0">
              <a:spcBef>
                <a:spcPts val="0"/>
              </a:spcBef>
              <a:spcAft>
                <a:spcPts val="0"/>
              </a:spcAft>
              <a:buClr>
                <a:schemeClr val="dk2"/>
              </a:buClr>
              <a:buSzPts val="1800"/>
              <a:buChar char="●"/>
            </a:pPr>
            <a:r>
              <a:rPr lang="en-GB" sz="1800">
                <a:solidFill>
                  <a:schemeClr val="dk2"/>
                </a:solidFill>
              </a:rPr>
              <a:t>Environment: anaconda,miniconda.</a:t>
            </a: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g381534ec281_0_28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25</a:t>
            </a:fld>
            <a:endParaRPr/>
          </a:p>
        </p:txBody>
      </p:sp>
      <p:pic>
        <p:nvPicPr>
          <p:cNvPr id="305" name="Google Shape;305;g381534ec281_0_284" descr="logo.png"/>
          <p:cNvPicPr preferRelativeResize="0"/>
          <p:nvPr/>
        </p:nvPicPr>
        <p:blipFill rotWithShape="1">
          <a:blip r:embed="rId3">
            <a:alphaModFix/>
          </a:blip>
          <a:srcRect/>
          <a:stretch/>
        </p:blipFill>
        <p:spPr>
          <a:xfrm>
            <a:off x="117296" y="50703"/>
            <a:ext cx="928695" cy="857256"/>
          </a:xfrm>
          <a:prstGeom prst="rect">
            <a:avLst/>
          </a:prstGeom>
          <a:noFill/>
          <a:ln>
            <a:noFill/>
          </a:ln>
        </p:spPr>
      </p:pic>
      <p:sp>
        <p:nvSpPr>
          <p:cNvPr id="306" name="Google Shape;306;g381534ec281_0_284"/>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307" name="Google Shape;307;g381534ec281_0_284"/>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000"/>
              <a:buFont typeface="Arial"/>
              <a:buNone/>
            </a:pPr>
            <a:r>
              <a:rPr lang="en-GB" sz="3000">
                <a:solidFill>
                  <a:schemeClr val="lt1"/>
                </a:solidFill>
                <a:latin typeface="Merriweather"/>
                <a:ea typeface="Merriweather"/>
                <a:cs typeface="Merriweather"/>
                <a:sym typeface="Merriweather"/>
              </a:rPr>
              <a:t>DATA SET DETAILS</a:t>
            </a:r>
            <a:endParaRPr sz="2500" b="0" i="0" u="none" strike="noStrike" cap="none">
              <a:solidFill>
                <a:schemeClr val="lt1"/>
              </a:solidFill>
              <a:latin typeface="Merriweather"/>
              <a:ea typeface="Merriweather"/>
              <a:cs typeface="Merriweather"/>
              <a:sym typeface="Merriweather"/>
            </a:endParaRPr>
          </a:p>
        </p:txBody>
      </p:sp>
      <p:sp>
        <p:nvSpPr>
          <p:cNvPr id="308" name="Google Shape;308;g381534ec281_0_284"/>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309" name="Google Shape;309;g381534ec281_0_284"/>
          <p:cNvSpPr txBox="1"/>
          <p:nvPr/>
        </p:nvSpPr>
        <p:spPr>
          <a:xfrm>
            <a:off x="117300" y="965606"/>
            <a:ext cx="8796900" cy="3582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00000"/>
              </a:lnSpc>
              <a:spcBef>
                <a:spcPts val="0"/>
              </a:spcBef>
              <a:spcAft>
                <a:spcPts val="0"/>
              </a:spcAft>
              <a:buClr>
                <a:schemeClr val="dk1"/>
              </a:buClr>
              <a:buSzPts val="1800"/>
              <a:buFont typeface="Times New Roman"/>
              <a:buChar char="●"/>
            </a:pPr>
            <a:r>
              <a:rPr lang="en-GB" sz="1800">
                <a:solidFill>
                  <a:schemeClr val="dk1"/>
                </a:solidFill>
                <a:latin typeface="Times New Roman"/>
                <a:ea typeface="Times New Roman"/>
                <a:cs typeface="Times New Roman"/>
                <a:sym typeface="Times New Roman"/>
              </a:rPr>
              <a:t>The dataset </a:t>
            </a:r>
            <a:r>
              <a:rPr lang="en-GB" sz="1800" i="1">
                <a:solidFill>
                  <a:schemeClr val="dk1"/>
                </a:solidFill>
                <a:latin typeface="Times New Roman"/>
                <a:ea typeface="Times New Roman"/>
                <a:cs typeface="Times New Roman"/>
                <a:sym typeface="Times New Roman"/>
              </a:rPr>
              <a:t>ds004504 </a:t>
            </a:r>
            <a:r>
              <a:rPr lang="en-GB" sz="1800">
                <a:solidFill>
                  <a:schemeClr val="dk1"/>
                </a:solidFill>
                <a:latin typeface="Times New Roman"/>
                <a:ea typeface="Times New Roman"/>
                <a:cs typeface="Times New Roman"/>
                <a:sym typeface="Times New Roman"/>
              </a:rPr>
              <a:t>is obtained from </a:t>
            </a:r>
            <a:r>
              <a:rPr lang="en-GB" sz="1800" b="1" u="sng">
                <a:solidFill>
                  <a:schemeClr val="hlink"/>
                </a:solidFill>
                <a:latin typeface="Times New Roman"/>
                <a:ea typeface="Times New Roman"/>
                <a:cs typeface="Times New Roman"/>
                <a:sym typeface="Times New Roman"/>
                <a:hlinkClick r:id="rId4"/>
              </a:rPr>
              <a:t>OpenNeuro.org</a:t>
            </a:r>
            <a:r>
              <a:rPr lang="en-GB" sz="1800" b="1">
                <a:solidFill>
                  <a:schemeClr val="dk1"/>
                </a:solidFill>
                <a:latin typeface="Times New Roman"/>
                <a:ea typeface="Times New Roman"/>
                <a:cs typeface="Times New Roman"/>
                <a:sym typeface="Times New Roman"/>
              </a:rPr>
              <a:t> </a:t>
            </a:r>
            <a:r>
              <a:rPr lang="en-GB" sz="1800">
                <a:solidFill>
                  <a:schemeClr val="dk1"/>
                </a:solidFill>
                <a:latin typeface="Times New Roman"/>
                <a:ea typeface="Times New Roman"/>
                <a:cs typeface="Times New Roman"/>
                <a:sym typeface="Times New Roman"/>
              </a:rPr>
              <a:t>using AWS Command Line Interface,</a:t>
            </a:r>
            <a:endParaRPr sz="1800">
              <a:solidFill>
                <a:schemeClr val="dk1"/>
              </a:solidFill>
              <a:latin typeface="Times New Roman"/>
              <a:ea typeface="Times New Roman"/>
              <a:cs typeface="Times New Roman"/>
              <a:sym typeface="Times New Roman"/>
            </a:endParaRPr>
          </a:p>
          <a:p>
            <a:pPr marL="457200" marR="0" lvl="0" indent="-342900" algn="l" rtl="0">
              <a:lnSpc>
                <a:spcPct val="100000"/>
              </a:lnSpc>
              <a:spcBef>
                <a:spcPts val="0"/>
              </a:spcBef>
              <a:spcAft>
                <a:spcPts val="0"/>
              </a:spcAft>
              <a:buClr>
                <a:schemeClr val="dk1"/>
              </a:buClr>
              <a:buSzPts val="1800"/>
              <a:buFont typeface="Times New Roman"/>
              <a:buChar char="●"/>
            </a:pPr>
            <a:r>
              <a:rPr lang="en-GB" sz="1800">
                <a:solidFill>
                  <a:schemeClr val="dk1"/>
                </a:solidFill>
                <a:latin typeface="Times New Roman"/>
                <a:ea typeface="Times New Roman"/>
                <a:cs typeface="Times New Roman"/>
                <a:sym typeface="Times New Roman"/>
              </a:rPr>
              <a:t>The dataset ds004504 contains EEG graphs of 88 individual subjects , each comprising of </a:t>
            </a:r>
            <a:br>
              <a:rPr lang="en-GB" sz="1800">
                <a:solidFill>
                  <a:schemeClr val="dk1"/>
                </a:solidFill>
                <a:latin typeface="Times New Roman"/>
                <a:ea typeface="Times New Roman"/>
                <a:cs typeface="Times New Roman"/>
                <a:sym typeface="Times New Roman"/>
              </a:rPr>
            </a:br>
            <a:r>
              <a:rPr lang="en-GB" sz="1800">
                <a:solidFill>
                  <a:schemeClr val="dk1"/>
                </a:solidFill>
                <a:latin typeface="Times New Roman"/>
                <a:ea typeface="Times New Roman"/>
                <a:cs typeface="Times New Roman"/>
                <a:sym typeface="Times New Roman"/>
              </a:rPr>
              <a:t>25 features that helps in detection of AD ,FTD , MCI disorders.</a:t>
            </a:r>
            <a:endParaRPr sz="1800">
              <a:solidFill>
                <a:schemeClr val="dk1"/>
              </a:solidFill>
              <a:latin typeface="Times New Roman"/>
              <a:ea typeface="Times New Roman"/>
              <a:cs typeface="Times New Roman"/>
              <a:sym typeface="Times New Roman"/>
            </a:endParaRPr>
          </a:p>
          <a:p>
            <a:pPr marL="457200" marR="0" lvl="0" indent="-342900" algn="l" rtl="0">
              <a:lnSpc>
                <a:spcPct val="100000"/>
              </a:lnSpc>
              <a:spcBef>
                <a:spcPts val="0"/>
              </a:spcBef>
              <a:spcAft>
                <a:spcPts val="0"/>
              </a:spcAft>
              <a:buClr>
                <a:schemeClr val="dk1"/>
              </a:buClr>
              <a:buSzPts val="1800"/>
              <a:buFont typeface="Times New Roman"/>
              <a:buChar char="●"/>
            </a:pPr>
            <a:r>
              <a:rPr lang="en-GB" sz="1800">
                <a:solidFill>
                  <a:schemeClr val="dk1"/>
                </a:solidFill>
                <a:latin typeface="Times New Roman"/>
                <a:ea typeface="Times New Roman"/>
                <a:cs typeface="Times New Roman"/>
                <a:sym typeface="Times New Roman"/>
              </a:rPr>
              <a:t>These 88 subjects are seperately used to classify and extract various features that assist in understanding and extracting features.</a:t>
            </a:r>
            <a:endParaRPr sz="1800">
              <a:solidFill>
                <a:schemeClr val="dk1"/>
              </a:solidFill>
              <a:latin typeface="Times New Roman"/>
              <a:ea typeface="Times New Roman"/>
              <a:cs typeface="Times New Roman"/>
              <a:sym typeface="Times New Roman"/>
            </a:endParaRPr>
          </a:p>
          <a:p>
            <a:pPr marL="457200" marR="0" lvl="0" indent="-342900" algn="l" rtl="0">
              <a:lnSpc>
                <a:spcPct val="100000"/>
              </a:lnSpc>
              <a:spcBef>
                <a:spcPts val="0"/>
              </a:spcBef>
              <a:spcAft>
                <a:spcPts val="0"/>
              </a:spcAft>
              <a:buClr>
                <a:schemeClr val="dk1"/>
              </a:buClr>
              <a:buSzPts val="1800"/>
              <a:buFont typeface="Times New Roman"/>
              <a:buChar char="●"/>
            </a:pPr>
            <a:r>
              <a:rPr lang="en-GB" sz="1800">
                <a:solidFill>
                  <a:schemeClr val="dk1"/>
                </a:solidFill>
                <a:latin typeface="Times New Roman"/>
                <a:ea typeface="Times New Roman"/>
                <a:cs typeface="Times New Roman"/>
                <a:sym typeface="Times New Roman"/>
              </a:rPr>
              <a:t>The size of the data is found to be 6GB with various features consisting of epochs 18407 </a:t>
            </a:r>
            <a:endParaRPr sz="1800">
              <a:solidFill>
                <a:schemeClr val="dk1"/>
              </a:solidFill>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Char char="●"/>
            </a:pPr>
            <a:r>
              <a:rPr lang="en-GB" sz="1800">
                <a:solidFill>
                  <a:schemeClr val="dk1"/>
                </a:solidFill>
                <a:latin typeface="Times New Roman"/>
                <a:ea typeface="Times New Roman"/>
                <a:cs typeface="Times New Roman"/>
                <a:sym typeface="Times New Roman"/>
              </a:rPr>
              <a:t>Wavelet Scattering ,XGBoost , RandomForest , Riemannian Geometry and Logistic Regression</a:t>
            </a:r>
            <a:endParaRPr sz="1800">
              <a:solidFill>
                <a:schemeClr val="dk1"/>
              </a:solidFill>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Char char="●"/>
            </a:pPr>
            <a:r>
              <a:rPr lang="en-GB" sz="1800">
                <a:solidFill>
                  <a:schemeClr val="dk1"/>
                </a:solidFill>
                <a:latin typeface="Times New Roman"/>
                <a:ea typeface="Times New Roman"/>
                <a:cs typeface="Times New Roman"/>
                <a:sym typeface="Times New Roman"/>
              </a:rPr>
              <a:t>TCN(Temporal CNN) , EEGNet , Stacking Ensemble Learninig.</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g3ae73a251e8_0_7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26</a:t>
            </a:fld>
            <a:endParaRPr/>
          </a:p>
        </p:txBody>
      </p:sp>
      <p:pic>
        <p:nvPicPr>
          <p:cNvPr id="335" name="Google Shape;335;g3ae73a251e8_0_71" descr="logo.png"/>
          <p:cNvPicPr preferRelativeResize="0"/>
          <p:nvPr/>
        </p:nvPicPr>
        <p:blipFill rotWithShape="1">
          <a:blip r:embed="rId3">
            <a:alphaModFix/>
          </a:blip>
          <a:srcRect/>
          <a:stretch/>
        </p:blipFill>
        <p:spPr>
          <a:xfrm>
            <a:off x="117296" y="50703"/>
            <a:ext cx="928695" cy="857256"/>
          </a:xfrm>
          <a:prstGeom prst="rect">
            <a:avLst/>
          </a:prstGeom>
          <a:noFill/>
          <a:ln>
            <a:noFill/>
          </a:ln>
        </p:spPr>
      </p:pic>
      <p:sp>
        <p:nvSpPr>
          <p:cNvPr id="336" name="Google Shape;336;g3ae73a251e8_0_71"/>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337" name="Google Shape;337;g3ae73a251e8_0_71"/>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000"/>
              <a:buFont typeface="Arial"/>
              <a:buNone/>
            </a:pPr>
            <a:r>
              <a:rPr lang="en-GB" sz="3000">
                <a:solidFill>
                  <a:schemeClr val="lt1"/>
                </a:solidFill>
                <a:latin typeface="Merriweather"/>
                <a:ea typeface="Merriweather"/>
                <a:cs typeface="Merriweather"/>
                <a:sym typeface="Merriweather"/>
              </a:rPr>
              <a:t>TEAM ROLES</a:t>
            </a:r>
            <a:endParaRPr sz="2500" b="0" i="0" u="none" strike="noStrike" cap="none">
              <a:solidFill>
                <a:schemeClr val="lt1"/>
              </a:solidFill>
              <a:latin typeface="Merriweather"/>
              <a:ea typeface="Merriweather"/>
              <a:cs typeface="Merriweather"/>
              <a:sym typeface="Merriweather"/>
            </a:endParaRPr>
          </a:p>
        </p:txBody>
      </p:sp>
      <p:sp>
        <p:nvSpPr>
          <p:cNvPr id="338" name="Google Shape;338;g3ae73a251e8_0_71"/>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339" name="Google Shape;339;g3ae73a251e8_0_71"/>
          <p:cNvSpPr txBox="1"/>
          <p:nvPr/>
        </p:nvSpPr>
        <p:spPr>
          <a:xfrm>
            <a:off x="-6775" y="965638"/>
            <a:ext cx="8796900" cy="36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Member 1(22FE1A0565):</a:t>
            </a:r>
            <a:endParaRPr sz="22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		Model Development,Creation of predictive model for accessing features and data training without any loss of data and error minimization</a:t>
            </a:r>
            <a:endParaRPr sz="22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Member 2 (22FE1A0575):</a:t>
            </a:r>
            <a:endParaRPr sz="22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		Training And Testing of Model,the model training and testing was done on the basis of model development and accuracy modes obtained helping in maximum effective data access and predictivity</a:t>
            </a:r>
            <a:endParaRPr sz="22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Member 3(22FE1A0593):</a:t>
            </a:r>
            <a:endParaRPr sz="22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		Feature Extraction,extraction of features available in the dataset that helps in training of data,leading to data filtering and preprocessing.</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g3ae73a251e8_0_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27</a:t>
            </a:fld>
            <a:endParaRPr/>
          </a:p>
        </p:txBody>
      </p:sp>
      <p:pic>
        <p:nvPicPr>
          <p:cNvPr id="345" name="Google Shape;345;g3ae73a251e8_0_62" descr="logo.png"/>
          <p:cNvPicPr preferRelativeResize="0"/>
          <p:nvPr/>
        </p:nvPicPr>
        <p:blipFill rotWithShape="1">
          <a:blip r:embed="rId3">
            <a:alphaModFix/>
          </a:blip>
          <a:srcRect/>
          <a:stretch/>
        </p:blipFill>
        <p:spPr>
          <a:xfrm>
            <a:off x="117296" y="50703"/>
            <a:ext cx="928695" cy="857256"/>
          </a:xfrm>
          <a:prstGeom prst="rect">
            <a:avLst/>
          </a:prstGeom>
          <a:noFill/>
          <a:ln>
            <a:noFill/>
          </a:ln>
        </p:spPr>
      </p:pic>
      <p:sp>
        <p:nvSpPr>
          <p:cNvPr id="346" name="Google Shape;346;g3ae73a251e8_0_62"/>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347" name="Google Shape;347;g3ae73a251e8_0_62"/>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000"/>
              <a:buFont typeface="Arial"/>
              <a:buNone/>
            </a:pPr>
            <a:r>
              <a:rPr lang="en-GB" sz="3000">
                <a:solidFill>
                  <a:schemeClr val="lt1"/>
                </a:solidFill>
                <a:latin typeface="Merriweather"/>
                <a:ea typeface="Merriweather"/>
                <a:cs typeface="Merriweather"/>
                <a:sym typeface="Merriweather"/>
              </a:rPr>
              <a:t>TEAM ROLES</a:t>
            </a:r>
            <a:endParaRPr sz="2500" b="0" i="0" u="none" strike="noStrike" cap="none">
              <a:solidFill>
                <a:schemeClr val="lt1"/>
              </a:solidFill>
              <a:latin typeface="Merriweather"/>
              <a:ea typeface="Merriweather"/>
              <a:cs typeface="Merriweather"/>
              <a:sym typeface="Merriweather"/>
            </a:endParaRPr>
          </a:p>
        </p:txBody>
      </p:sp>
      <p:sp>
        <p:nvSpPr>
          <p:cNvPr id="348" name="Google Shape;348;g3ae73a251e8_0_62"/>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349" name="Google Shape;349;g3ae73a251e8_0_62"/>
          <p:cNvSpPr txBox="1"/>
          <p:nvPr/>
        </p:nvSpPr>
        <p:spPr>
          <a:xfrm>
            <a:off x="117300" y="907950"/>
            <a:ext cx="8796900" cy="36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Member 4((22FE1A0578):</a:t>
            </a:r>
            <a:endParaRPr sz="22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		UI Development and integration,development of user interfaces using StreamLit,making the program easier to access for the user to provide input and understand Output</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g3ae73a251e8_0_9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28</a:t>
            </a:fld>
            <a:endParaRPr/>
          </a:p>
        </p:txBody>
      </p:sp>
      <p:pic>
        <p:nvPicPr>
          <p:cNvPr id="355" name="Google Shape;355;g3ae73a251e8_0_98" descr="logo.png"/>
          <p:cNvPicPr preferRelativeResize="0"/>
          <p:nvPr/>
        </p:nvPicPr>
        <p:blipFill rotWithShape="1">
          <a:blip r:embed="rId3">
            <a:alphaModFix/>
          </a:blip>
          <a:srcRect/>
          <a:stretch/>
        </p:blipFill>
        <p:spPr>
          <a:xfrm>
            <a:off x="117296" y="50703"/>
            <a:ext cx="928695" cy="857256"/>
          </a:xfrm>
          <a:prstGeom prst="rect">
            <a:avLst/>
          </a:prstGeom>
          <a:noFill/>
          <a:ln>
            <a:noFill/>
          </a:ln>
        </p:spPr>
      </p:pic>
      <p:sp>
        <p:nvSpPr>
          <p:cNvPr id="356" name="Google Shape;356;g3ae73a251e8_0_98"/>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357" name="Google Shape;357;g3ae73a251e8_0_98"/>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000"/>
              <a:buFont typeface="Arial"/>
              <a:buNone/>
            </a:pPr>
            <a:r>
              <a:rPr lang="en-GB" sz="3000">
                <a:solidFill>
                  <a:schemeClr val="lt1"/>
                </a:solidFill>
                <a:latin typeface="Merriweather"/>
                <a:ea typeface="Merriweather"/>
                <a:cs typeface="Merriweather"/>
                <a:sym typeface="Merriweather"/>
              </a:rPr>
              <a:t>SAMPLE OUTPUTS</a:t>
            </a:r>
            <a:endParaRPr sz="2500" b="0" i="0" u="none" strike="noStrike" cap="none">
              <a:solidFill>
                <a:schemeClr val="lt1"/>
              </a:solidFill>
              <a:latin typeface="Merriweather"/>
              <a:ea typeface="Merriweather"/>
              <a:cs typeface="Merriweather"/>
              <a:sym typeface="Merriweather"/>
            </a:endParaRPr>
          </a:p>
        </p:txBody>
      </p:sp>
      <p:sp>
        <p:nvSpPr>
          <p:cNvPr id="358" name="Google Shape;358;g3ae73a251e8_0_98"/>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pic>
        <p:nvPicPr>
          <p:cNvPr id="359" name="Google Shape;359;g3ae73a251e8_0_98" title="epoch_psd.png"/>
          <p:cNvPicPr preferRelativeResize="0"/>
          <p:nvPr/>
        </p:nvPicPr>
        <p:blipFill>
          <a:blip r:embed="rId4">
            <a:alphaModFix/>
          </a:blip>
          <a:stretch>
            <a:fillRect/>
          </a:stretch>
        </p:blipFill>
        <p:spPr>
          <a:xfrm>
            <a:off x="230474" y="1235338"/>
            <a:ext cx="4650750" cy="3100500"/>
          </a:xfrm>
          <a:prstGeom prst="rect">
            <a:avLst/>
          </a:prstGeom>
          <a:noFill/>
          <a:ln>
            <a:noFill/>
          </a:ln>
        </p:spPr>
      </p:pic>
      <p:sp>
        <p:nvSpPr>
          <p:cNvPr id="360" name="Google Shape;360;g3ae73a251e8_0_98"/>
          <p:cNvSpPr txBox="1"/>
          <p:nvPr/>
        </p:nvSpPr>
        <p:spPr>
          <a:xfrm>
            <a:off x="5053450" y="1566675"/>
            <a:ext cx="3815400" cy="236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latin typeface="Times New Roman"/>
                <a:ea typeface="Times New Roman"/>
                <a:cs typeface="Times New Roman"/>
                <a:sym typeface="Times New Roman"/>
              </a:rPr>
              <a:t>The following image tells about the time - series graph.representing the brain activity.according to which the prediction of Mild Cognitive Impairment(MCI).and its stages as Early,moderate and final stage.the feature extraction of the frequencies as per time required.</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g3b40712d12c_0_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29</a:t>
            </a:fld>
            <a:endParaRPr/>
          </a:p>
        </p:txBody>
      </p:sp>
      <p:pic>
        <p:nvPicPr>
          <p:cNvPr id="366" name="Google Shape;366;g3b40712d12c_0_0" descr="logo.png"/>
          <p:cNvPicPr preferRelativeResize="0"/>
          <p:nvPr/>
        </p:nvPicPr>
        <p:blipFill rotWithShape="1">
          <a:blip r:embed="rId3">
            <a:alphaModFix/>
          </a:blip>
          <a:srcRect/>
          <a:stretch/>
        </p:blipFill>
        <p:spPr>
          <a:xfrm>
            <a:off x="117296" y="50703"/>
            <a:ext cx="928695" cy="857256"/>
          </a:xfrm>
          <a:prstGeom prst="rect">
            <a:avLst/>
          </a:prstGeom>
          <a:noFill/>
          <a:ln>
            <a:noFill/>
          </a:ln>
        </p:spPr>
      </p:pic>
      <p:sp>
        <p:nvSpPr>
          <p:cNvPr id="367" name="Google Shape;367;g3b40712d12c_0_0"/>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368" name="Google Shape;368;g3b40712d12c_0_0"/>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000"/>
              <a:buFont typeface="Arial"/>
              <a:buNone/>
            </a:pPr>
            <a:r>
              <a:rPr lang="en-GB" sz="3000">
                <a:solidFill>
                  <a:schemeClr val="lt1"/>
                </a:solidFill>
                <a:latin typeface="Merriweather"/>
                <a:ea typeface="Merriweather"/>
                <a:cs typeface="Merriweather"/>
                <a:sym typeface="Merriweather"/>
              </a:rPr>
              <a:t>SAMPLE OUTPUTS</a:t>
            </a:r>
            <a:endParaRPr sz="2500" b="0" i="0" u="none" strike="noStrike" cap="none">
              <a:solidFill>
                <a:schemeClr val="lt1"/>
              </a:solidFill>
              <a:latin typeface="Merriweather"/>
              <a:ea typeface="Merriweather"/>
              <a:cs typeface="Merriweather"/>
              <a:sym typeface="Merriweather"/>
            </a:endParaRPr>
          </a:p>
        </p:txBody>
      </p:sp>
      <p:sp>
        <p:nvSpPr>
          <p:cNvPr id="369" name="Google Shape;369;g3b40712d12c_0_0"/>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pic>
        <p:nvPicPr>
          <p:cNvPr id="370" name="Google Shape;370;g3b40712d12c_0_0" title="epoch_psd.png"/>
          <p:cNvPicPr preferRelativeResize="0"/>
          <p:nvPr/>
        </p:nvPicPr>
        <p:blipFill>
          <a:blip r:embed="rId4">
            <a:alphaModFix/>
          </a:blip>
          <a:stretch>
            <a:fillRect/>
          </a:stretch>
        </p:blipFill>
        <p:spPr>
          <a:xfrm>
            <a:off x="230474" y="1235338"/>
            <a:ext cx="4650750" cy="3100500"/>
          </a:xfrm>
          <a:prstGeom prst="rect">
            <a:avLst/>
          </a:prstGeom>
          <a:noFill/>
          <a:ln>
            <a:noFill/>
          </a:ln>
        </p:spPr>
      </p:pic>
      <p:sp>
        <p:nvSpPr>
          <p:cNvPr id="371" name="Google Shape;371;g3b40712d12c_0_0"/>
          <p:cNvSpPr txBox="1"/>
          <p:nvPr/>
        </p:nvSpPr>
        <p:spPr>
          <a:xfrm>
            <a:off x="5053450" y="1566675"/>
            <a:ext cx="3815400" cy="236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latin typeface="Times New Roman"/>
                <a:ea typeface="Times New Roman"/>
                <a:cs typeface="Times New Roman"/>
                <a:sym typeface="Times New Roman"/>
              </a:rPr>
              <a:t>The following image tells about the time - series graph.representing the brain activity.according to which the prediction of Mild Cognitive Impairment(MCI).and its stages as Early,moderate and final stage.the feature extraction of the frequencies as per time required.</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g3bb64976f0e_1_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30</a:t>
            </a:fld>
            <a:endParaRPr/>
          </a:p>
        </p:txBody>
      </p:sp>
      <p:pic>
        <p:nvPicPr>
          <p:cNvPr id="377" name="Google Shape;377;g3bb64976f0e_1_0" descr="logo.png"/>
          <p:cNvPicPr preferRelativeResize="0"/>
          <p:nvPr/>
        </p:nvPicPr>
        <p:blipFill rotWithShape="1">
          <a:blip r:embed="rId3">
            <a:alphaModFix/>
          </a:blip>
          <a:srcRect/>
          <a:stretch/>
        </p:blipFill>
        <p:spPr>
          <a:xfrm>
            <a:off x="117296" y="50703"/>
            <a:ext cx="928695" cy="857256"/>
          </a:xfrm>
          <a:prstGeom prst="rect">
            <a:avLst/>
          </a:prstGeom>
          <a:noFill/>
          <a:ln>
            <a:noFill/>
          </a:ln>
        </p:spPr>
      </p:pic>
      <p:sp>
        <p:nvSpPr>
          <p:cNvPr id="378" name="Google Shape;378;g3bb64976f0e_1_0"/>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379" name="Google Shape;379;g3bb64976f0e_1_0"/>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000"/>
              <a:buFont typeface="Arial"/>
              <a:buNone/>
            </a:pPr>
            <a:r>
              <a:rPr lang="en-GB" sz="3000">
                <a:solidFill>
                  <a:schemeClr val="lt1"/>
                </a:solidFill>
                <a:latin typeface="Merriweather"/>
                <a:ea typeface="Merriweather"/>
                <a:cs typeface="Merriweather"/>
                <a:sym typeface="Merriweather"/>
              </a:rPr>
              <a:t>SAMPLE OUTPUTS</a:t>
            </a:r>
            <a:endParaRPr sz="2500" b="0" i="0" u="none" strike="noStrike" cap="none">
              <a:solidFill>
                <a:schemeClr val="lt1"/>
              </a:solidFill>
              <a:latin typeface="Merriweather"/>
              <a:ea typeface="Merriweather"/>
              <a:cs typeface="Merriweather"/>
              <a:sym typeface="Merriweather"/>
            </a:endParaRPr>
          </a:p>
        </p:txBody>
      </p:sp>
      <p:sp>
        <p:nvSpPr>
          <p:cNvPr id="380" name="Google Shape;380;g3bb64976f0e_1_0"/>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pic>
        <p:nvPicPr>
          <p:cNvPr id="381" name="Google Shape;381;g3bb64976f0e_1_0"/>
          <p:cNvPicPr preferRelativeResize="0"/>
          <p:nvPr/>
        </p:nvPicPr>
        <p:blipFill>
          <a:blip r:embed="rId4"/>
          <a:srcRect/>
          <a:stretch/>
        </p:blipFill>
        <p:spPr>
          <a:xfrm>
            <a:off x="230474" y="1477565"/>
            <a:ext cx="4650750" cy="2616046"/>
          </a:xfrm>
          <a:prstGeom prst="rect">
            <a:avLst/>
          </a:prstGeom>
          <a:noFill/>
          <a:ln>
            <a:noFill/>
          </a:ln>
        </p:spPr>
      </p:pic>
      <p:sp>
        <p:nvSpPr>
          <p:cNvPr id="382" name="Google Shape;382;g3bb64976f0e_1_0"/>
          <p:cNvSpPr txBox="1"/>
          <p:nvPr/>
        </p:nvSpPr>
        <p:spPr>
          <a:xfrm>
            <a:off x="5053450" y="1566675"/>
            <a:ext cx="3815400" cy="236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dirty="0">
                <a:solidFill>
                  <a:schemeClr val="dk1"/>
                </a:solidFill>
                <a:latin typeface="Times New Roman"/>
                <a:ea typeface="Times New Roman"/>
                <a:cs typeface="Times New Roman"/>
                <a:sym typeface="Times New Roman"/>
              </a:rPr>
              <a:t>The following image gives the information about the participants as selected , gives out the confidence value for perspective stage of Frontotemporal Dementia(FTD).we can even generate a Clinical Report on basis estimate.</a:t>
            </a:r>
            <a:endParaRPr dirty="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g3ae73a251e8_0_8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31</a:t>
            </a:fld>
            <a:endParaRPr/>
          </a:p>
        </p:txBody>
      </p:sp>
      <p:pic>
        <p:nvPicPr>
          <p:cNvPr id="388" name="Google Shape;388;g3ae73a251e8_0_80" descr="logo.png"/>
          <p:cNvPicPr preferRelativeResize="0"/>
          <p:nvPr/>
        </p:nvPicPr>
        <p:blipFill rotWithShape="1">
          <a:blip r:embed="rId3">
            <a:alphaModFix/>
          </a:blip>
          <a:srcRect/>
          <a:stretch/>
        </p:blipFill>
        <p:spPr>
          <a:xfrm>
            <a:off x="117296" y="50703"/>
            <a:ext cx="928695" cy="857256"/>
          </a:xfrm>
          <a:prstGeom prst="rect">
            <a:avLst/>
          </a:prstGeom>
          <a:noFill/>
          <a:ln>
            <a:noFill/>
          </a:ln>
        </p:spPr>
      </p:pic>
      <p:sp>
        <p:nvSpPr>
          <p:cNvPr id="389" name="Google Shape;389;g3ae73a251e8_0_80"/>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390" name="Google Shape;390;g3ae73a251e8_0_80"/>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000"/>
              <a:buFont typeface="Arial"/>
              <a:buNone/>
            </a:pPr>
            <a:r>
              <a:rPr lang="en-GB" sz="3000">
                <a:solidFill>
                  <a:schemeClr val="lt1"/>
                </a:solidFill>
                <a:latin typeface="Merriweather"/>
                <a:ea typeface="Merriweather"/>
                <a:cs typeface="Merriweather"/>
                <a:sym typeface="Merriweather"/>
              </a:rPr>
              <a:t>CONCLUSION</a:t>
            </a:r>
            <a:endParaRPr sz="2500" b="0" i="0" u="none" strike="noStrike" cap="none">
              <a:solidFill>
                <a:schemeClr val="lt1"/>
              </a:solidFill>
              <a:latin typeface="Merriweather"/>
              <a:ea typeface="Merriweather"/>
              <a:cs typeface="Merriweather"/>
              <a:sym typeface="Merriweather"/>
            </a:endParaRPr>
          </a:p>
        </p:txBody>
      </p:sp>
      <p:sp>
        <p:nvSpPr>
          <p:cNvPr id="391" name="Google Shape;391;g3ae73a251e8_0_80"/>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392" name="Google Shape;392;g3ae73a251e8_0_80"/>
          <p:cNvSpPr txBox="1"/>
          <p:nvPr/>
        </p:nvSpPr>
        <p:spPr>
          <a:xfrm>
            <a:off x="117300" y="907950"/>
            <a:ext cx="8796900" cy="36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800"/>
              <a:buFont typeface="Arial"/>
              <a:buNone/>
            </a:pPr>
            <a:r>
              <a:rPr lang="en-GB" sz="2000">
                <a:solidFill>
                  <a:schemeClr val="dk1"/>
                </a:solidFill>
                <a:latin typeface="Times New Roman"/>
                <a:ea typeface="Times New Roman"/>
                <a:cs typeface="Times New Roman"/>
                <a:sym typeface="Times New Roman"/>
              </a:rPr>
              <a:t>Currently, there is no permanent treatment for Alzheimer’s disease. However, early detection can help patients and families prepare for the future. Several diagnostic methods exist, such as Mini-Mental State Examination (MMSE), Clinical Dementia Rating (CDR), Positron Emission Tomography (PET), Single Photon Emission Computed Tomography (SPECT), Magnetic Resonance Imaging (MRI), and EEG. Among these, PET and SPECT involve radiation risks, while MRI is costly, making EEG a safer and more effective choice for diagnosis.</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800"/>
              <a:buFont typeface="Arial"/>
              <a:buNone/>
            </a:pPr>
            <a:r>
              <a:rPr lang="en-GB" sz="2000">
                <a:solidFill>
                  <a:schemeClr val="dk1"/>
                </a:solidFill>
                <a:latin typeface="Times New Roman"/>
                <a:ea typeface="Times New Roman"/>
                <a:cs typeface="Times New Roman"/>
                <a:sym typeface="Times New Roman"/>
              </a:rPr>
              <a:t>This Predictive model will help the users to identify AD in its Primary Stages,making the  users to take care of their family member,which could help them either to recover or be Better along with their present Condition of MCI i.e Alzhemier`s Diseases.</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32</a:t>
            </a:fld>
            <a:endParaRPr/>
          </a:p>
        </p:txBody>
      </p:sp>
      <p:pic>
        <p:nvPicPr>
          <p:cNvPr id="398" name="Google Shape;398;p12" descr="logo.png"/>
          <p:cNvPicPr preferRelativeResize="0"/>
          <p:nvPr/>
        </p:nvPicPr>
        <p:blipFill rotWithShape="1">
          <a:blip r:embed="rId3">
            <a:alphaModFix/>
          </a:blip>
          <a:srcRect/>
          <a:stretch/>
        </p:blipFill>
        <p:spPr>
          <a:xfrm>
            <a:off x="117296" y="50703"/>
            <a:ext cx="928695" cy="857256"/>
          </a:xfrm>
          <a:prstGeom prst="rect">
            <a:avLst/>
          </a:prstGeom>
          <a:noFill/>
          <a:ln>
            <a:noFill/>
          </a:ln>
        </p:spPr>
      </p:pic>
      <p:sp>
        <p:nvSpPr>
          <p:cNvPr id="399" name="Google Shape;399;p12"/>
          <p:cNvSpPr txBox="1"/>
          <p:nvPr/>
        </p:nvSpPr>
        <p:spPr>
          <a:xfrm>
            <a:off x="1235100" y="0"/>
            <a:ext cx="7908900" cy="8574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lt1"/>
                </a:solidFill>
                <a:highlight>
                  <a:srgbClr val="4A86E8"/>
                </a:highlight>
                <a:latin typeface="Arial"/>
                <a:ea typeface="Arial"/>
                <a:cs typeface="Arial"/>
                <a:sym typeface="Arial"/>
              </a:rPr>
              <a:t>						</a:t>
            </a:r>
            <a:endParaRPr sz="1800" b="0" i="0" u="none" strike="noStrike" cap="none">
              <a:solidFill>
                <a:schemeClr val="lt1"/>
              </a:solidFill>
              <a:highlight>
                <a:srgbClr val="4A86E8"/>
              </a:highlight>
              <a:latin typeface="Arial"/>
              <a:ea typeface="Arial"/>
              <a:cs typeface="Arial"/>
              <a:sym typeface="Arial"/>
            </a:endParaRPr>
          </a:p>
        </p:txBody>
      </p:sp>
      <p:sp>
        <p:nvSpPr>
          <p:cNvPr id="400" name="Google Shape;400;p12"/>
          <p:cNvSpPr txBox="1"/>
          <p:nvPr/>
        </p:nvSpPr>
        <p:spPr>
          <a:xfrm>
            <a:off x="1243950" y="50700"/>
            <a:ext cx="7891200" cy="7512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000"/>
              <a:buFont typeface="Arial"/>
              <a:buNone/>
            </a:pPr>
            <a:r>
              <a:rPr lang="en-GB" sz="3000" b="0" i="0" u="none" strike="noStrike" cap="none">
                <a:solidFill>
                  <a:schemeClr val="lt1"/>
                </a:solidFill>
                <a:latin typeface="Merriweather"/>
                <a:ea typeface="Merriweather"/>
                <a:cs typeface="Merriweather"/>
                <a:sym typeface="Merriweather"/>
              </a:rPr>
              <a:t>REFERENCES</a:t>
            </a:r>
            <a:endParaRPr sz="2500" b="0" i="0" u="none" strike="noStrike" cap="none">
              <a:solidFill>
                <a:schemeClr val="lt1"/>
              </a:solidFill>
              <a:latin typeface="Merriweather"/>
              <a:ea typeface="Merriweather"/>
              <a:cs typeface="Merriweather"/>
              <a:sym typeface="Merriweather"/>
            </a:endParaRPr>
          </a:p>
        </p:txBody>
      </p:sp>
      <p:sp>
        <p:nvSpPr>
          <p:cNvPr id="401" name="Google Shape;401;p12"/>
          <p:cNvSpPr txBox="1"/>
          <p:nvPr/>
        </p:nvSpPr>
        <p:spPr>
          <a:xfrm>
            <a:off x="-6775" y="4663225"/>
            <a:ext cx="9109200" cy="48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a:solidFill>
                  <a:schemeClr val="dk2"/>
                </a:solidFill>
              </a:rPr>
              <a:t>23/01/2026</a:t>
            </a:r>
            <a:r>
              <a:rPr lang="en-GB" sz="1500" b="0" i="0" u="none" strike="noStrike" cap="none">
                <a:solidFill>
                  <a:schemeClr val="dk2"/>
                </a:solidFill>
                <a:latin typeface="Arial"/>
                <a:ea typeface="Arial"/>
                <a:cs typeface="Arial"/>
                <a:sym typeface="Arial"/>
              </a:rPr>
              <a:t>				</a:t>
            </a:r>
            <a:r>
              <a:rPr lang="en-GB" sz="1388" b="0" i="0" u="none" strike="noStrike" cap="none">
                <a:solidFill>
                  <a:schemeClr val="dk1"/>
                </a:solidFill>
                <a:latin typeface="Arial"/>
                <a:ea typeface="Arial"/>
                <a:cs typeface="Arial"/>
                <a:sym typeface="Arial"/>
              </a:rPr>
              <a:t>Department of Computer Science and Engineering</a:t>
            </a:r>
            <a:endParaRPr sz="1800" b="0" i="0" u="none" strike="noStrike" cap="none">
              <a:solidFill>
                <a:schemeClr val="dk2"/>
              </a:solidFill>
              <a:latin typeface="Arial"/>
              <a:ea typeface="Arial"/>
              <a:cs typeface="Arial"/>
              <a:sym typeface="Arial"/>
            </a:endParaRPr>
          </a:p>
        </p:txBody>
      </p:sp>
      <p:sp>
        <p:nvSpPr>
          <p:cNvPr id="402" name="Google Shape;402;p12"/>
          <p:cNvSpPr txBox="1"/>
          <p:nvPr/>
        </p:nvSpPr>
        <p:spPr>
          <a:xfrm>
            <a:off x="117300" y="965606"/>
            <a:ext cx="8796900" cy="3582169"/>
          </a:xfrm>
          <a:prstGeom prst="rect">
            <a:avLst/>
          </a:prstGeom>
          <a:noFill/>
          <a:ln>
            <a:noFill/>
          </a:ln>
        </p:spPr>
        <p:txBody>
          <a:bodyPr spcFirstLastPara="1" wrap="square" lIns="91425" tIns="91425" rIns="91425" bIns="91425" anchor="t" anchorCtr="0">
            <a:noAutofit/>
          </a:bodyPr>
          <a:lstStyle/>
          <a:p>
            <a:pPr marL="285750" marR="0" lvl="0" indent="-285750" algn="l" rtl="0">
              <a:lnSpc>
                <a:spcPct val="100000"/>
              </a:lnSpc>
              <a:spcBef>
                <a:spcPts val="0"/>
              </a:spcBef>
              <a:spcAft>
                <a:spcPts val="0"/>
              </a:spcAft>
              <a:buClr>
                <a:srgbClr val="000000"/>
              </a:buClr>
              <a:buSzPts val="1600"/>
              <a:buFont typeface="Noto Sans Symbols"/>
              <a:buChar char="⮚"/>
            </a:pPr>
            <a:r>
              <a:rPr lang="en-GB" sz="1600" i="0" u="none" strike="noStrike" cap="none">
                <a:solidFill>
                  <a:srgbClr val="000000"/>
                </a:solidFill>
                <a:latin typeface="Times New Roman"/>
                <a:ea typeface="Times New Roman"/>
                <a:cs typeface="Times New Roman"/>
                <a:sym typeface="Times New Roman"/>
              </a:rPr>
              <a:t> “Alzheimer Disease Detection and Tracking of Alzheimer Patient “Priyanka Thakare Department of Electronics </a:t>
            </a:r>
            <a:r>
              <a:rPr lang="en-GB" sz="1600">
                <a:latin typeface="Times New Roman"/>
                <a:ea typeface="Times New Roman"/>
                <a:cs typeface="Times New Roman"/>
                <a:sym typeface="Times New Roman"/>
              </a:rPr>
              <a:t>&amp; Telecommunication</a:t>
            </a:r>
            <a:r>
              <a:rPr lang="en-GB" sz="1600" i="0" u="none" strike="noStrike" cap="none">
                <a:solidFill>
                  <a:srgbClr val="000000"/>
                </a:solidFill>
                <a:latin typeface="Times New Roman"/>
                <a:ea typeface="Times New Roman"/>
                <a:cs typeface="Times New Roman"/>
                <a:sym typeface="Times New Roman"/>
              </a:rPr>
              <a:t> Bharati </a:t>
            </a:r>
            <a:r>
              <a:rPr lang="en-GB" sz="1600">
                <a:latin typeface="Times New Roman"/>
                <a:ea typeface="Times New Roman"/>
                <a:cs typeface="Times New Roman"/>
                <a:sym typeface="Times New Roman"/>
              </a:rPr>
              <a:t>Vidyapeeth's</a:t>
            </a:r>
            <a:r>
              <a:rPr lang="en-GB" sz="1600" i="0" u="none" strike="noStrike" cap="none">
                <a:solidFill>
                  <a:srgbClr val="000000"/>
                </a:solidFill>
                <a:latin typeface="Times New Roman"/>
                <a:ea typeface="Times New Roman"/>
                <a:cs typeface="Times New Roman"/>
                <a:sym typeface="Times New Roman"/>
              </a:rPr>
              <a:t> College of Engineering for Women, for Better and Safer Living (BRC), pp 1-6, 26-28 May 2014. </a:t>
            </a:r>
            <a:endParaRPr>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600"/>
              <a:buFont typeface="Times New Roman"/>
              <a:buChar char="⮚"/>
            </a:pPr>
            <a:r>
              <a:rPr lang="en-GB" sz="1600" i="0" u="none" strike="noStrike" cap="none">
                <a:solidFill>
                  <a:srgbClr val="000000"/>
                </a:solidFill>
                <a:latin typeface="Times New Roman"/>
                <a:ea typeface="Times New Roman"/>
                <a:cs typeface="Times New Roman"/>
                <a:sym typeface="Times New Roman"/>
              </a:rPr>
              <a:t>Ahmad Akl, Babak Taati, and Alex Mihailidis, “Autonomous Unobtrusive Detection of Mild Cognitive Impairment in Older Adults”, IEEE Transactions On Biomedical Engineering, pp 1383- 1394, VOL. 62, NO. 5, MAY 2015. </a:t>
            </a:r>
            <a:endParaRPr>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600"/>
              <a:buFont typeface="Times New Roman"/>
              <a:buChar char="⮚"/>
            </a:pPr>
            <a:r>
              <a:rPr lang="en-GB" sz="1600" i="0" u="none" strike="noStrike" cap="none">
                <a:solidFill>
                  <a:srgbClr val="000000"/>
                </a:solidFill>
                <a:latin typeface="Times New Roman"/>
                <a:ea typeface="Times New Roman"/>
                <a:cs typeface="Times New Roman"/>
                <a:sym typeface="Times New Roman"/>
              </a:rPr>
              <a:t>Brian Roark, Margaret Mitchell, John-Paul Hosom, Kristy Hollingshead, and Jeffrey Kaye, “Spoken Language Derived Measures for Detecting Mild Cognitive Impairment”, IEEE Transactions On Audio, Speech, And Language Processing, pp 2081- 2090,Vol. 19, NO. 7, September 2011. </a:t>
            </a:r>
            <a:endParaRPr>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600"/>
              <a:buFont typeface="Times New Roman"/>
              <a:buChar char="⮚"/>
            </a:pPr>
            <a:r>
              <a:rPr lang="en-GB" sz="1600" i="0" u="none" strike="noStrike" cap="none">
                <a:solidFill>
                  <a:srgbClr val="000000"/>
                </a:solidFill>
                <a:latin typeface="Times New Roman"/>
                <a:ea typeface="Times New Roman"/>
                <a:cs typeface="Times New Roman"/>
                <a:sym typeface="Times New Roman"/>
              </a:rPr>
              <a:t>Chenhui Hu†, Pan Zhou∗ , Member, IEEE and Quanzheng Li “Early Diagnosis of Alzheimer’s Disease Based on Resting-State Brain Networks and Deep Learning” Ronghui Ju†, Student Member, IEEE, </a:t>
            </a:r>
            <a:endParaRPr>
              <a:latin typeface="Times New Roman"/>
              <a:ea typeface="Times New Roman"/>
              <a:cs typeface="Times New Roman"/>
              <a:sym typeface="Times New Roman"/>
            </a:endParaRPr>
          </a:p>
          <a:p>
            <a:pPr marL="285750" marR="0" lvl="0" indent="-184150" algn="l" rtl="0">
              <a:lnSpc>
                <a:spcPct val="100000"/>
              </a:lnSpc>
              <a:spcBef>
                <a:spcPts val="0"/>
              </a:spcBef>
              <a:spcAft>
                <a:spcPts val="0"/>
              </a:spcAft>
              <a:buClr>
                <a:srgbClr val="000000"/>
              </a:buClr>
              <a:buSzPts val="1600"/>
              <a:buFont typeface="Noto Sans Symbols"/>
              <a:buNone/>
            </a:pPr>
            <a:endParaRPr sz="1600" i="0" u="sng"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33</a:t>
            </a:fld>
            <a:endParaRPr/>
          </a:p>
        </p:txBody>
      </p:sp>
      <p:sp>
        <p:nvSpPr>
          <p:cNvPr id="408" name="Google Shape;408;p13"/>
          <p:cNvSpPr txBox="1"/>
          <p:nvPr/>
        </p:nvSpPr>
        <p:spPr>
          <a:xfrm>
            <a:off x="0" y="1798600"/>
            <a:ext cx="9090900" cy="19140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6000"/>
              <a:buFont typeface="Arial"/>
              <a:buNone/>
            </a:pPr>
            <a:r>
              <a:rPr lang="en-GB" sz="6000" b="0" i="0" u="none" strike="noStrike" cap="none">
                <a:solidFill>
                  <a:schemeClr val="lt1"/>
                </a:solidFill>
                <a:latin typeface="Impact"/>
                <a:ea typeface="Impact"/>
                <a:cs typeface="Impact"/>
                <a:sym typeface="Impact"/>
              </a:rPr>
              <a:t>THANK YOU</a:t>
            </a:r>
            <a:endParaRPr sz="6000" b="0" i="0" u="none" strike="noStrike" cap="none">
              <a:solidFill>
                <a:schemeClr val="lt1"/>
              </a:solidFill>
              <a:latin typeface="Impact"/>
              <a:ea typeface="Impact"/>
              <a:cs typeface="Impact"/>
              <a:sym typeface="Impac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356</TotalTime>
  <Words>3249</Words>
  <Application>Microsoft Office PowerPoint</Application>
  <PresentationFormat>On-screen Show (16:9)</PresentationFormat>
  <Paragraphs>342</Paragraphs>
  <Slides>33</Slides>
  <Notes>33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Calibri</vt:lpstr>
      <vt:lpstr>Georgia</vt:lpstr>
      <vt:lpstr>Noto Sans Symbols</vt:lpstr>
      <vt:lpstr>Impact</vt:lpstr>
      <vt:lpstr>Merriweather</vt:lpstr>
      <vt:lpstr>Times New Roman</vt:lpstr>
      <vt:lpstr>Arial</vt:lpstr>
      <vt:lpstr>Simple Light</vt:lpstr>
      <vt:lpstr>Department of Computer Science and Engineering  VIGNAN’S LARA INSTITUTE OF TECHNOLOGY AND SCIENCE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Saivinay K</cp:lastModifiedBy>
  <cp:revision>2</cp:revision>
  <dcterms:modified xsi:type="dcterms:W3CDTF">2026-02-02T12:33:06Z</dcterms:modified>
</cp:coreProperties>
</file>